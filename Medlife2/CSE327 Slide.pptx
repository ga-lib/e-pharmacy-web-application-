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7" r:id="rId11"/>
    <p:sldId id="269" r:id="rId12"/>
    <p:sldId id="266" r:id="rId13"/>
    <p:sldId id="268" r:id="rId14"/>
    <p:sldId id="270" r:id="rId15"/>
    <p:sldId id="271" r:id="rId16"/>
    <p:sldId id="272" r:id="rId17"/>
    <p:sldId id="273" r:id="rId18"/>
    <p:sldId id="274" r:id="rId19"/>
  </p:sldIdLst>
  <p:sldSz cx="9144000" cy="5143500" type="screen16x9"/>
  <p:notesSz cx="6858000" cy="9144000"/>
  <p:embeddedFontLst>
    <p:embeddedFont>
      <p:font typeface="Albert Sans" panose="020B0604020202020204" charset="0"/>
      <p:regular r:id="rId21"/>
      <p:bold r:id="rId22"/>
      <p:italic r:id="rId23"/>
      <p:boldItalic r:id="rId24"/>
    </p:embeddedFont>
    <p:embeddedFont>
      <p:font typeface="Bebas Neue" panose="020B0604020202020204" charset="0"/>
      <p:regular r:id="rId25"/>
    </p:embeddedFont>
    <p:embeddedFont>
      <p:font typeface="DM Sans" panose="020B0604020202020204" charset="0"/>
      <p:regular r:id="rId26"/>
      <p:bold r:id="rId27"/>
      <p:italic r:id="rId28"/>
      <p:boldItalic r:id="rId29"/>
    </p:embeddedFont>
    <p:embeddedFont>
      <p:font typeface="DM Sans ExtraBold" panose="020B0604020202020204" charset="0"/>
      <p:bold r:id="rId30"/>
      <p:boldItalic r:id="rId31"/>
    </p:embeddedFont>
    <p:embeddedFont>
      <p:font typeface="PT Sans" panose="020B050302020302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5153D870-BBBE-43DC-AEA8-7773FCFB079D}">
          <p14:sldIdLst>
            <p14:sldId id="256"/>
            <p14:sldId id="257"/>
            <p14:sldId id="258"/>
            <p14:sldId id="259"/>
            <p14:sldId id="260"/>
            <p14:sldId id="261"/>
            <p14:sldId id="262"/>
            <p14:sldId id="263"/>
            <p14:sldId id="264"/>
            <p14:sldId id="267"/>
            <p14:sldId id="269"/>
            <p14:sldId id="266"/>
            <p14:sldId id="268"/>
            <p14:sldId id="270"/>
            <p14:sldId id="271"/>
            <p14:sldId id="272"/>
            <p14:sldId id="273"/>
            <p14:sldId id="274"/>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1402614-61EE-404D-93B8-37E266F27B1C}">
  <a:tblStyle styleId="{E1402614-61EE-404D-93B8-37E266F27B1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46"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tableStyles" Target="tableStyles.xml"/><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5f62d7e088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5f62d7e088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5f62d7e088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5f62d7e088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2408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5f62d7e088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5f62d7e088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3174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5f62d7e088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5f62d7e088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3276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5f62d7e088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5f62d7e088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6522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l="237" r="997"/>
          <a:stretch/>
        </p:blipFill>
        <p:spPr>
          <a:xfrm rot="10800000" flipH="1">
            <a:off x="0" y="-6974"/>
            <a:ext cx="9164600" cy="5149449"/>
          </a:xfrm>
          <a:prstGeom prst="rect">
            <a:avLst/>
          </a:prstGeom>
          <a:noFill/>
          <a:ln>
            <a:noFill/>
          </a:ln>
        </p:spPr>
      </p:pic>
      <p:pic>
        <p:nvPicPr>
          <p:cNvPr id="10" name="Google Shape;10;p2"/>
          <p:cNvPicPr preferRelativeResize="0"/>
          <p:nvPr/>
        </p:nvPicPr>
        <p:blipFill rotWithShape="1">
          <a:blip r:embed="rId3">
            <a:alphaModFix amt="50000"/>
          </a:blip>
          <a:srcRect l="771" r="6256"/>
          <a:stretch/>
        </p:blipFill>
        <p:spPr>
          <a:xfrm rot="10800000" flipH="1">
            <a:off x="-58300" y="-6974"/>
            <a:ext cx="9279201" cy="5212699"/>
          </a:xfrm>
          <a:prstGeom prst="rect">
            <a:avLst/>
          </a:prstGeom>
          <a:noFill/>
          <a:ln>
            <a:noFill/>
          </a:ln>
        </p:spPr>
      </p:pic>
      <p:sp>
        <p:nvSpPr>
          <p:cNvPr id="11" name="Google Shape;11;p2"/>
          <p:cNvSpPr txBox="1">
            <a:spLocks noGrp="1"/>
          </p:cNvSpPr>
          <p:nvPr>
            <p:ph type="ctrTitle"/>
          </p:nvPr>
        </p:nvSpPr>
        <p:spPr>
          <a:xfrm>
            <a:off x="1958400" y="1392800"/>
            <a:ext cx="5227200" cy="1586700"/>
          </a:xfrm>
          <a:prstGeom prst="rect">
            <a:avLst/>
          </a:prstGeom>
          <a:noFill/>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4000">
                <a:solidFill>
                  <a:schemeClr val="dk1"/>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2" name="Google Shape;12;p2"/>
          <p:cNvSpPr txBox="1">
            <a:spLocks noGrp="1"/>
          </p:cNvSpPr>
          <p:nvPr>
            <p:ph type="subTitle" idx="1"/>
          </p:nvPr>
        </p:nvSpPr>
        <p:spPr>
          <a:xfrm>
            <a:off x="1958400" y="3206800"/>
            <a:ext cx="5227200" cy="543900"/>
          </a:xfrm>
          <a:prstGeom prst="rect">
            <a:avLst/>
          </a:prstGeom>
          <a:solidFill>
            <a:schemeClr val="lt1"/>
          </a:solidFill>
          <a:ln>
            <a:noFill/>
          </a:ln>
        </p:spPr>
        <p:txBody>
          <a:bodyPr spcFirstLastPara="1" wrap="square" lIns="91425" tIns="91425" rIns="91425" bIns="91425" anchor="ctr" anchorCtr="0">
            <a:noAutofit/>
          </a:bodyPr>
          <a:lstStyle>
            <a:lvl1pPr lvl="0" algn="ctr">
              <a:lnSpc>
                <a:spcPct val="115000"/>
              </a:lnSpc>
              <a:spcBef>
                <a:spcPts val="0"/>
              </a:spcBef>
              <a:spcAft>
                <a:spcPts val="0"/>
              </a:spcAft>
              <a:buSzPts val="1400"/>
              <a:buFont typeface="Actor"/>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273"/>
        <p:cNvGrpSpPr/>
        <p:nvPr/>
      </p:nvGrpSpPr>
      <p:grpSpPr>
        <a:xfrm>
          <a:off x="0" y="0"/>
          <a:ext cx="0" cy="0"/>
          <a:chOff x="0" y="0"/>
          <a:chExt cx="0" cy="0"/>
        </a:xfrm>
      </p:grpSpPr>
      <p:pic>
        <p:nvPicPr>
          <p:cNvPr id="274" name="Google Shape;274;p29"/>
          <p:cNvPicPr preferRelativeResize="0"/>
          <p:nvPr/>
        </p:nvPicPr>
        <p:blipFill rotWithShape="1">
          <a:blip r:embed="rId2">
            <a:alphaModFix/>
          </a:blip>
          <a:srcRect l="420" r="-500"/>
          <a:stretch/>
        </p:blipFill>
        <p:spPr>
          <a:xfrm rot="5400000" flipH="1">
            <a:off x="1964188" y="-2008812"/>
            <a:ext cx="5224351" cy="9156724"/>
          </a:xfrm>
          <a:prstGeom prst="rect">
            <a:avLst/>
          </a:prstGeom>
          <a:noFill/>
          <a:ln>
            <a:noFill/>
          </a:ln>
        </p:spPr>
      </p:pic>
      <p:pic>
        <p:nvPicPr>
          <p:cNvPr id="275" name="Google Shape;275;p29"/>
          <p:cNvPicPr preferRelativeResize="0"/>
          <p:nvPr/>
        </p:nvPicPr>
        <p:blipFill rotWithShape="1">
          <a:blip r:embed="rId3">
            <a:alphaModFix amt="50000"/>
          </a:blip>
          <a:srcRect l="1158" r="46640" b="83547"/>
          <a:stretch/>
        </p:blipFill>
        <p:spPr>
          <a:xfrm rot="-5400000">
            <a:off x="6176613" y="2184614"/>
            <a:ext cx="5146998" cy="847224"/>
          </a:xfrm>
          <a:prstGeom prst="rect">
            <a:avLst/>
          </a:prstGeom>
          <a:noFill/>
          <a:ln>
            <a:noFill/>
          </a:ln>
        </p:spPr>
      </p:pic>
      <p:sp>
        <p:nvSpPr>
          <p:cNvPr id="276" name="Google Shape;276;p29"/>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9"/>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9"/>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9"/>
          <p:cNvSpPr/>
          <p:nvPr/>
        </p:nvSpPr>
        <p:spPr>
          <a:xfrm>
            <a:off x="7573120" y="3543821"/>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9"/>
          <p:cNvSpPr/>
          <p:nvPr/>
        </p:nvSpPr>
        <p:spPr>
          <a:xfrm>
            <a:off x="1339741" y="3348571"/>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9"/>
          <p:cNvSpPr/>
          <p:nvPr/>
        </p:nvSpPr>
        <p:spPr>
          <a:xfrm>
            <a:off x="7544355" y="3538697"/>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9"/>
          <p:cNvSpPr/>
          <p:nvPr/>
        </p:nvSpPr>
        <p:spPr>
          <a:xfrm>
            <a:off x="7567640" y="3545287"/>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9"/>
          <p:cNvSpPr/>
          <p:nvPr/>
        </p:nvSpPr>
        <p:spPr>
          <a:xfrm>
            <a:off x="7573132" y="3547483"/>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9"/>
          <p:cNvSpPr txBox="1">
            <a:spLocks noGrp="1"/>
          </p:cNvSpPr>
          <p:nvPr>
            <p:ph type="title" hasCustomPrompt="1"/>
          </p:nvPr>
        </p:nvSpPr>
        <p:spPr>
          <a:xfrm>
            <a:off x="996400" y="2821675"/>
            <a:ext cx="2057400" cy="532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85" name="Google Shape;285;p29"/>
          <p:cNvSpPr txBox="1">
            <a:spLocks noGrp="1"/>
          </p:cNvSpPr>
          <p:nvPr>
            <p:ph type="subTitle" idx="1"/>
          </p:nvPr>
        </p:nvSpPr>
        <p:spPr>
          <a:xfrm>
            <a:off x="996400" y="3850132"/>
            <a:ext cx="2057400" cy="6354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286" name="Google Shape;286;p29"/>
          <p:cNvSpPr txBox="1">
            <a:spLocks noGrp="1"/>
          </p:cNvSpPr>
          <p:nvPr>
            <p:ph type="subTitle" idx="2"/>
          </p:nvPr>
        </p:nvSpPr>
        <p:spPr>
          <a:xfrm>
            <a:off x="996400" y="3397775"/>
            <a:ext cx="2057400" cy="440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000" b="1">
                <a:latin typeface="DM Sans"/>
                <a:ea typeface="DM Sans"/>
                <a:cs typeface="DM Sans"/>
                <a:sym typeface="DM Sans"/>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87" name="Google Shape;287;p29"/>
          <p:cNvSpPr txBox="1">
            <a:spLocks noGrp="1"/>
          </p:cNvSpPr>
          <p:nvPr>
            <p:ph type="title" idx="3" hasCustomPrompt="1"/>
          </p:nvPr>
        </p:nvSpPr>
        <p:spPr>
          <a:xfrm>
            <a:off x="3543300" y="2821675"/>
            <a:ext cx="2057400" cy="532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88" name="Google Shape;288;p29"/>
          <p:cNvSpPr txBox="1">
            <a:spLocks noGrp="1"/>
          </p:cNvSpPr>
          <p:nvPr>
            <p:ph type="subTitle" idx="4"/>
          </p:nvPr>
        </p:nvSpPr>
        <p:spPr>
          <a:xfrm>
            <a:off x="3543300" y="3850132"/>
            <a:ext cx="2057400" cy="6354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289" name="Google Shape;289;p29"/>
          <p:cNvSpPr txBox="1">
            <a:spLocks noGrp="1"/>
          </p:cNvSpPr>
          <p:nvPr>
            <p:ph type="subTitle" idx="5"/>
          </p:nvPr>
        </p:nvSpPr>
        <p:spPr>
          <a:xfrm>
            <a:off x="3543300" y="3397775"/>
            <a:ext cx="2057400" cy="440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000" b="1">
                <a:latin typeface="DM Sans"/>
                <a:ea typeface="DM Sans"/>
                <a:cs typeface="DM Sans"/>
                <a:sym typeface="DM Sans"/>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90" name="Google Shape;290;p29"/>
          <p:cNvSpPr txBox="1">
            <a:spLocks noGrp="1"/>
          </p:cNvSpPr>
          <p:nvPr>
            <p:ph type="title" idx="6" hasCustomPrompt="1"/>
          </p:nvPr>
        </p:nvSpPr>
        <p:spPr>
          <a:xfrm>
            <a:off x="6090200" y="2821675"/>
            <a:ext cx="2057400" cy="5328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91" name="Google Shape;291;p29"/>
          <p:cNvSpPr txBox="1">
            <a:spLocks noGrp="1"/>
          </p:cNvSpPr>
          <p:nvPr>
            <p:ph type="subTitle" idx="7"/>
          </p:nvPr>
        </p:nvSpPr>
        <p:spPr>
          <a:xfrm>
            <a:off x="6090200" y="3850125"/>
            <a:ext cx="2057400" cy="6354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292" name="Google Shape;292;p29"/>
          <p:cNvSpPr txBox="1">
            <a:spLocks noGrp="1"/>
          </p:cNvSpPr>
          <p:nvPr>
            <p:ph type="subTitle" idx="8"/>
          </p:nvPr>
        </p:nvSpPr>
        <p:spPr>
          <a:xfrm>
            <a:off x="6090200" y="3397762"/>
            <a:ext cx="2057400" cy="440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000" b="1">
                <a:latin typeface="DM Sans"/>
                <a:ea typeface="DM Sans"/>
                <a:cs typeface="DM Sans"/>
                <a:sym typeface="DM Sans"/>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93" name="Google Shape;293;p29"/>
          <p:cNvSpPr txBox="1">
            <a:spLocks noGrp="1"/>
          </p:cNvSpPr>
          <p:nvPr>
            <p:ph type="title" idx="9"/>
          </p:nvPr>
        </p:nvSpPr>
        <p:spPr>
          <a:xfrm>
            <a:off x="720000" y="450475"/>
            <a:ext cx="7704000" cy="567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294" name="Google Shape;294;p29"/>
          <p:cNvPicPr preferRelativeResize="0"/>
          <p:nvPr/>
        </p:nvPicPr>
        <p:blipFill rotWithShape="1">
          <a:blip r:embed="rId3">
            <a:alphaModFix amt="50000"/>
          </a:blip>
          <a:srcRect l="1158" r="46640" b="83547"/>
          <a:stretch/>
        </p:blipFill>
        <p:spPr>
          <a:xfrm rot="5400000" flipH="1">
            <a:off x="-2149887" y="2184614"/>
            <a:ext cx="5146998" cy="84722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09"/>
        <p:cNvGrpSpPr/>
        <p:nvPr/>
      </p:nvGrpSpPr>
      <p:grpSpPr>
        <a:xfrm>
          <a:off x="0" y="0"/>
          <a:ext cx="0" cy="0"/>
          <a:chOff x="0" y="0"/>
          <a:chExt cx="0" cy="0"/>
        </a:xfrm>
      </p:grpSpPr>
      <p:sp>
        <p:nvSpPr>
          <p:cNvPr id="310" name="Google Shape;310;p31"/>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1"/>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1"/>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3" name="Google Shape;313;p31"/>
          <p:cNvPicPr preferRelativeResize="0"/>
          <p:nvPr/>
        </p:nvPicPr>
        <p:blipFill rotWithShape="1">
          <a:blip r:embed="rId2">
            <a:alphaModFix/>
          </a:blip>
          <a:srcRect l="415" r="554"/>
          <a:stretch/>
        </p:blipFill>
        <p:spPr>
          <a:xfrm rot="5400000" flipH="1">
            <a:off x="1982013" y="-1990987"/>
            <a:ext cx="5188700" cy="9156724"/>
          </a:xfrm>
          <a:prstGeom prst="rect">
            <a:avLst/>
          </a:prstGeom>
          <a:noFill/>
          <a:ln>
            <a:noFill/>
          </a:ln>
        </p:spPr>
      </p:pic>
      <p:pic>
        <p:nvPicPr>
          <p:cNvPr id="314" name="Google Shape;314;p31"/>
          <p:cNvPicPr preferRelativeResize="0"/>
          <p:nvPr/>
        </p:nvPicPr>
        <p:blipFill rotWithShape="1">
          <a:blip r:embed="rId3">
            <a:alphaModFix amt="50000"/>
          </a:blip>
          <a:srcRect l="1158" r="46640" b="83547"/>
          <a:stretch/>
        </p:blipFill>
        <p:spPr>
          <a:xfrm rot="-5400000">
            <a:off x="6176613" y="2184614"/>
            <a:ext cx="5146998" cy="847224"/>
          </a:xfrm>
          <a:prstGeom prst="rect">
            <a:avLst/>
          </a:prstGeom>
          <a:noFill/>
          <a:ln>
            <a:noFill/>
          </a:ln>
        </p:spPr>
      </p:pic>
      <p:pic>
        <p:nvPicPr>
          <p:cNvPr id="315" name="Google Shape;315;p31"/>
          <p:cNvPicPr preferRelativeResize="0"/>
          <p:nvPr/>
        </p:nvPicPr>
        <p:blipFill rotWithShape="1">
          <a:blip r:embed="rId3">
            <a:alphaModFix amt="50000"/>
          </a:blip>
          <a:srcRect l="1158" r="46640" b="83547"/>
          <a:stretch/>
        </p:blipFill>
        <p:spPr>
          <a:xfrm rot="5400000" flipH="1">
            <a:off x="-2149887" y="2184614"/>
            <a:ext cx="5146998" cy="84722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16"/>
        <p:cNvGrpSpPr/>
        <p:nvPr/>
      </p:nvGrpSpPr>
      <p:grpSpPr>
        <a:xfrm>
          <a:off x="0" y="0"/>
          <a:ext cx="0" cy="0"/>
          <a:chOff x="0" y="0"/>
          <a:chExt cx="0" cy="0"/>
        </a:xfrm>
      </p:grpSpPr>
      <p:pic>
        <p:nvPicPr>
          <p:cNvPr id="317" name="Google Shape;317;p32"/>
          <p:cNvPicPr preferRelativeResize="0"/>
          <p:nvPr/>
        </p:nvPicPr>
        <p:blipFill rotWithShape="1">
          <a:blip r:embed="rId2">
            <a:alphaModFix/>
          </a:blip>
          <a:srcRect l="391" r="68546"/>
          <a:stretch/>
        </p:blipFill>
        <p:spPr>
          <a:xfrm rot="5400000">
            <a:off x="1981124" y="-1997549"/>
            <a:ext cx="5181752" cy="9144000"/>
          </a:xfrm>
          <a:prstGeom prst="rect">
            <a:avLst/>
          </a:prstGeom>
          <a:noFill/>
          <a:ln>
            <a:noFill/>
          </a:ln>
        </p:spPr>
      </p:pic>
      <p:pic>
        <p:nvPicPr>
          <p:cNvPr id="318" name="Google Shape;318;p32"/>
          <p:cNvPicPr preferRelativeResize="0"/>
          <p:nvPr/>
        </p:nvPicPr>
        <p:blipFill rotWithShape="1">
          <a:blip r:embed="rId3">
            <a:alphaModFix amt="50000"/>
          </a:blip>
          <a:srcRect l="10399" t="7568" r="28318" b="-125054"/>
          <a:stretch/>
        </p:blipFill>
        <p:spPr>
          <a:xfrm rot="5400000">
            <a:off x="2002938" y="-2000238"/>
            <a:ext cx="5138125" cy="9144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DM Sans ExtraBold"/>
              <a:buNone/>
              <a:defRPr sz="3500">
                <a:solidFill>
                  <a:schemeClr val="dk1"/>
                </a:solidFill>
                <a:latin typeface="DM Sans ExtraBold"/>
                <a:ea typeface="DM Sans ExtraBold"/>
                <a:cs typeface="DM Sans ExtraBold"/>
                <a:sym typeface="DM Sans ExtraBold"/>
              </a:defRPr>
            </a:lvl1pPr>
            <a:lvl2pPr lvl="1" rtl="0">
              <a:spcBef>
                <a:spcPts val="0"/>
              </a:spcBef>
              <a:spcAft>
                <a:spcPts val="0"/>
              </a:spcAft>
              <a:buClr>
                <a:schemeClr val="dk1"/>
              </a:buClr>
              <a:buSzPts val="3500"/>
              <a:buFont typeface="DM Sans ExtraBold"/>
              <a:buNone/>
              <a:defRPr sz="3500">
                <a:solidFill>
                  <a:schemeClr val="dk1"/>
                </a:solidFill>
                <a:latin typeface="DM Sans ExtraBold"/>
                <a:ea typeface="DM Sans ExtraBold"/>
                <a:cs typeface="DM Sans ExtraBold"/>
                <a:sym typeface="DM Sans ExtraBold"/>
              </a:defRPr>
            </a:lvl2pPr>
            <a:lvl3pPr lvl="2" rtl="0">
              <a:spcBef>
                <a:spcPts val="0"/>
              </a:spcBef>
              <a:spcAft>
                <a:spcPts val="0"/>
              </a:spcAft>
              <a:buClr>
                <a:schemeClr val="dk1"/>
              </a:buClr>
              <a:buSzPts val="3500"/>
              <a:buFont typeface="DM Sans ExtraBold"/>
              <a:buNone/>
              <a:defRPr sz="3500">
                <a:solidFill>
                  <a:schemeClr val="dk1"/>
                </a:solidFill>
                <a:latin typeface="DM Sans ExtraBold"/>
                <a:ea typeface="DM Sans ExtraBold"/>
                <a:cs typeface="DM Sans ExtraBold"/>
                <a:sym typeface="DM Sans ExtraBold"/>
              </a:defRPr>
            </a:lvl3pPr>
            <a:lvl4pPr lvl="3" rtl="0">
              <a:spcBef>
                <a:spcPts val="0"/>
              </a:spcBef>
              <a:spcAft>
                <a:spcPts val="0"/>
              </a:spcAft>
              <a:buClr>
                <a:schemeClr val="dk1"/>
              </a:buClr>
              <a:buSzPts val="3500"/>
              <a:buFont typeface="DM Sans ExtraBold"/>
              <a:buNone/>
              <a:defRPr sz="3500">
                <a:solidFill>
                  <a:schemeClr val="dk1"/>
                </a:solidFill>
                <a:latin typeface="DM Sans ExtraBold"/>
                <a:ea typeface="DM Sans ExtraBold"/>
                <a:cs typeface="DM Sans ExtraBold"/>
                <a:sym typeface="DM Sans ExtraBold"/>
              </a:defRPr>
            </a:lvl4pPr>
            <a:lvl5pPr lvl="4" rtl="0">
              <a:spcBef>
                <a:spcPts val="0"/>
              </a:spcBef>
              <a:spcAft>
                <a:spcPts val="0"/>
              </a:spcAft>
              <a:buClr>
                <a:schemeClr val="dk1"/>
              </a:buClr>
              <a:buSzPts val="3500"/>
              <a:buFont typeface="DM Sans ExtraBold"/>
              <a:buNone/>
              <a:defRPr sz="3500">
                <a:solidFill>
                  <a:schemeClr val="dk1"/>
                </a:solidFill>
                <a:latin typeface="DM Sans ExtraBold"/>
                <a:ea typeface="DM Sans ExtraBold"/>
                <a:cs typeface="DM Sans ExtraBold"/>
                <a:sym typeface="DM Sans ExtraBold"/>
              </a:defRPr>
            </a:lvl5pPr>
            <a:lvl6pPr lvl="5" rtl="0">
              <a:spcBef>
                <a:spcPts val="0"/>
              </a:spcBef>
              <a:spcAft>
                <a:spcPts val="0"/>
              </a:spcAft>
              <a:buClr>
                <a:schemeClr val="dk1"/>
              </a:buClr>
              <a:buSzPts val="3500"/>
              <a:buFont typeface="DM Sans ExtraBold"/>
              <a:buNone/>
              <a:defRPr sz="3500">
                <a:solidFill>
                  <a:schemeClr val="dk1"/>
                </a:solidFill>
                <a:latin typeface="DM Sans ExtraBold"/>
                <a:ea typeface="DM Sans ExtraBold"/>
                <a:cs typeface="DM Sans ExtraBold"/>
                <a:sym typeface="DM Sans ExtraBold"/>
              </a:defRPr>
            </a:lvl6pPr>
            <a:lvl7pPr lvl="6" rtl="0">
              <a:spcBef>
                <a:spcPts val="0"/>
              </a:spcBef>
              <a:spcAft>
                <a:spcPts val="0"/>
              </a:spcAft>
              <a:buClr>
                <a:schemeClr val="dk1"/>
              </a:buClr>
              <a:buSzPts val="3500"/>
              <a:buFont typeface="DM Sans ExtraBold"/>
              <a:buNone/>
              <a:defRPr sz="3500">
                <a:solidFill>
                  <a:schemeClr val="dk1"/>
                </a:solidFill>
                <a:latin typeface="DM Sans ExtraBold"/>
                <a:ea typeface="DM Sans ExtraBold"/>
                <a:cs typeface="DM Sans ExtraBold"/>
                <a:sym typeface="DM Sans ExtraBold"/>
              </a:defRPr>
            </a:lvl7pPr>
            <a:lvl8pPr lvl="7" rtl="0">
              <a:spcBef>
                <a:spcPts val="0"/>
              </a:spcBef>
              <a:spcAft>
                <a:spcPts val="0"/>
              </a:spcAft>
              <a:buClr>
                <a:schemeClr val="dk1"/>
              </a:buClr>
              <a:buSzPts val="3500"/>
              <a:buFont typeface="DM Sans ExtraBold"/>
              <a:buNone/>
              <a:defRPr sz="3500">
                <a:solidFill>
                  <a:schemeClr val="dk1"/>
                </a:solidFill>
                <a:latin typeface="DM Sans ExtraBold"/>
                <a:ea typeface="DM Sans ExtraBold"/>
                <a:cs typeface="DM Sans ExtraBold"/>
                <a:sym typeface="DM Sans ExtraBold"/>
              </a:defRPr>
            </a:lvl8pPr>
            <a:lvl9pPr lvl="8" rtl="0">
              <a:spcBef>
                <a:spcPts val="0"/>
              </a:spcBef>
              <a:spcAft>
                <a:spcPts val="0"/>
              </a:spcAft>
              <a:buClr>
                <a:schemeClr val="dk1"/>
              </a:buClr>
              <a:buSzPts val="3500"/>
              <a:buFont typeface="DM Sans ExtraBold"/>
              <a:buNone/>
              <a:defRPr sz="3500">
                <a:solidFill>
                  <a:schemeClr val="dk1"/>
                </a:solidFill>
                <a:latin typeface="DM Sans ExtraBold"/>
                <a:ea typeface="DM Sans ExtraBold"/>
                <a:cs typeface="DM Sans ExtraBold"/>
                <a:sym typeface="DM Sans ExtraBold"/>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marL="914400" lvl="1"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marL="1371600" lvl="2"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marL="1828800" lvl="3"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marL="2286000" lvl="4"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marL="2743200" lvl="5"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marL="3200400" lvl="6"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marL="3657600" lvl="7"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marL="4114800" lvl="8"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75" r:id="rId2"/>
    <p:sldLayoutId id="2147483677" r:id="rId3"/>
    <p:sldLayoutId id="2147483678"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30" name="Google Shape;330;p36"/>
          <p:cNvSpPr txBox="1">
            <a:spLocks noGrp="1"/>
          </p:cNvSpPr>
          <p:nvPr>
            <p:ph type="ctrTitle"/>
          </p:nvPr>
        </p:nvSpPr>
        <p:spPr>
          <a:xfrm>
            <a:off x="1789200" y="710000"/>
            <a:ext cx="5565600" cy="1385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5400" b="1" i="0" dirty="0">
                <a:solidFill>
                  <a:srgbClr val="FFFFFF"/>
                </a:solidFill>
                <a:effectLst/>
              </a:rPr>
              <a:t>Med</a:t>
            </a:r>
            <a:r>
              <a:rPr lang="en-US" sz="5400" b="1" i="0" dirty="0">
                <a:solidFill>
                  <a:srgbClr val="5CE1E6"/>
                </a:solidFill>
                <a:effectLst/>
              </a:rPr>
              <a:t>Life</a:t>
            </a:r>
            <a:endParaRPr sz="5400" dirty="0"/>
          </a:p>
        </p:txBody>
      </p:sp>
      <p:sp>
        <p:nvSpPr>
          <p:cNvPr id="3" name="Subtitle 2">
            <a:extLst>
              <a:ext uri="{FF2B5EF4-FFF2-40B4-BE49-F238E27FC236}">
                <a16:creationId xmlns:a16="http://schemas.microsoft.com/office/drawing/2014/main" id="{D0D0FF90-5950-4FFC-8F97-85C2429C0B2D}"/>
              </a:ext>
            </a:extLst>
          </p:cNvPr>
          <p:cNvSpPr>
            <a:spLocks noGrp="1"/>
          </p:cNvSpPr>
          <p:nvPr>
            <p:ph type="subTitle" idx="1"/>
          </p:nvPr>
        </p:nvSpPr>
        <p:spPr>
          <a:xfrm>
            <a:off x="1873800" y="1968399"/>
            <a:ext cx="5396400" cy="543900"/>
          </a:xfrm>
        </p:spPr>
        <p:txBody>
          <a:bodyPr/>
          <a:lstStyle/>
          <a:p>
            <a:r>
              <a:rPr lang="en-US" b="0" i="0" dirty="0">
                <a:solidFill>
                  <a:srgbClr val="FFFFFF"/>
                </a:solidFill>
                <a:effectLst/>
              </a:rPr>
              <a:t>Revolutionize HealthCare Shopping with </a:t>
            </a:r>
            <a:r>
              <a:rPr lang="en-US" b="0" i="0" dirty="0">
                <a:solidFill>
                  <a:srgbClr val="40EDF4"/>
                </a:solidFill>
                <a:effectLst/>
              </a:rPr>
              <a:t>E</a:t>
            </a:r>
            <a:r>
              <a:rPr lang="en-US" b="0" i="0" dirty="0">
                <a:solidFill>
                  <a:srgbClr val="FFFFFF"/>
                </a:solidFill>
                <a:effectLst/>
              </a:rPr>
              <a:t>-Pharmacy</a:t>
            </a:r>
            <a:endParaRPr lang="en-US" dirty="0"/>
          </a:p>
        </p:txBody>
      </p:sp>
      <p:sp>
        <p:nvSpPr>
          <p:cNvPr id="8" name="TextBox 7">
            <a:extLst>
              <a:ext uri="{FF2B5EF4-FFF2-40B4-BE49-F238E27FC236}">
                <a16:creationId xmlns:a16="http://schemas.microsoft.com/office/drawing/2014/main" id="{D09D1FFC-7D66-4D96-BCD8-4385AA21044F}"/>
              </a:ext>
            </a:extLst>
          </p:cNvPr>
          <p:cNvSpPr txBox="1"/>
          <p:nvPr/>
        </p:nvSpPr>
        <p:spPr>
          <a:xfrm>
            <a:off x="3846600" y="2646457"/>
            <a:ext cx="4640400" cy="307777"/>
          </a:xfrm>
          <a:prstGeom prst="rect">
            <a:avLst/>
          </a:prstGeom>
          <a:noFill/>
        </p:spPr>
        <p:txBody>
          <a:bodyPr wrap="square">
            <a:spAutoFit/>
          </a:bodyPr>
          <a:lstStyle/>
          <a:p>
            <a:r>
              <a:rPr lang="en-US" b="1" i="0" dirty="0">
                <a:solidFill>
                  <a:srgbClr val="CAEEFD"/>
                </a:solidFill>
                <a:effectLst/>
              </a:rPr>
              <a:t>Presented BY</a:t>
            </a:r>
            <a:r>
              <a:rPr lang="en-US" b="1" i="0" dirty="0">
                <a:solidFill>
                  <a:srgbClr val="FFFFFF"/>
                </a:solidFill>
                <a:effectLst/>
              </a:rPr>
              <a:t>:</a:t>
            </a:r>
            <a:endParaRPr lang="en-US" dirty="0"/>
          </a:p>
        </p:txBody>
      </p:sp>
      <p:sp>
        <p:nvSpPr>
          <p:cNvPr id="10" name="TextBox 9">
            <a:extLst>
              <a:ext uri="{FF2B5EF4-FFF2-40B4-BE49-F238E27FC236}">
                <a16:creationId xmlns:a16="http://schemas.microsoft.com/office/drawing/2014/main" id="{0A221FF6-4DE9-45AD-8A7D-2B6CC1FEE7DE}"/>
              </a:ext>
            </a:extLst>
          </p:cNvPr>
          <p:cNvSpPr txBox="1"/>
          <p:nvPr/>
        </p:nvSpPr>
        <p:spPr>
          <a:xfrm>
            <a:off x="2629800" y="2684691"/>
            <a:ext cx="4640400" cy="1631216"/>
          </a:xfrm>
          <a:prstGeom prst="rect">
            <a:avLst/>
          </a:prstGeom>
          <a:noFill/>
        </p:spPr>
        <p:txBody>
          <a:bodyPr wrap="square">
            <a:spAutoFit/>
          </a:bodyPr>
          <a:lstStyle/>
          <a:p>
            <a:r>
              <a:rPr lang="en-US" sz="2000" b="1" i="0" dirty="0">
                <a:solidFill>
                  <a:srgbClr val="FFFFFF"/>
                </a:solidFill>
                <a:effectLst/>
                <a:latin typeface="YAFdJjTk5UU 0"/>
              </a:rPr>
              <a:t> </a:t>
            </a:r>
            <a:endParaRPr lang="en-US" sz="2000" dirty="0">
              <a:solidFill>
                <a:srgbClr val="FFFFFF"/>
              </a:solidFill>
              <a:effectLst/>
              <a:latin typeface="YAFdJjTk5UU 0"/>
            </a:endParaRPr>
          </a:p>
          <a:p>
            <a:r>
              <a:rPr lang="en-US" sz="2000" b="1" i="0" dirty="0">
                <a:solidFill>
                  <a:srgbClr val="FFFFFF"/>
                </a:solidFill>
                <a:effectLst/>
                <a:latin typeface="YAFdJjTk5UU 0"/>
              </a:rPr>
              <a:t>Fahmida Akter Rapa      2013903042 </a:t>
            </a:r>
            <a:endParaRPr lang="en-US" sz="2000" dirty="0">
              <a:solidFill>
                <a:srgbClr val="FFFFFF"/>
              </a:solidFill>
              <a:effectLst/>
              <a:latin typeface="YAFdJjTk5UU 0"/>
            </a:endParaRPr>
          </a:p>
          <a:p>
            <a:r>
              <a:rPr lang="en-US" sz="2000" b="1" i="0" dirty="0">
                <a:solidFill>
                  <a:srgbClr val="FFFFFF"/>
                </a:solidFill>
                <a:effectLst/>
                <a:latin typeface="YAFdJjTk5UU 0"/>
              </a:rPr>
              <a:t>Rahimul Haque Afrad    2021885642 </a:t>
            </a:r>
          </a:p>
          <a:p>
            <a:r>
              <a:rPr lang="en-US" sz="2000" b="1" dirty="0">
                <a:solidFill>
                  <a:srgbClr val="FFFFFF"/>
                </a:solidFill>
                <a:latin typeface="YAFdJjTk5UU 0"/>
              </a:rPr>
              <a:t>Wakib Jahan Galib         2021057642</a:t>
            </a:r>
            <a:endParaRPr lang="en-US" sz="2000" dirty="0">
              <a:solidFill>
                <a:srgbClr val="FFFFFF"/>
              </a:solidFill>
              <a:effectLst/>
              <a:latin typeface="YAFdJjTk5UU 0"/>
            </a:endParaRPr>
          </a:p>
          <a:p>
            <a:r>
              <a:rPr lang="en-US" sz="2000" b="1" i="0" dirty="0">
                <a:solidFill>
                  <a:srgbClr val="FFFFFF"/>
                </a:solidFill>
                <a:effectLst/>
                <a:latin typeface="YAFdJjTk5UU 0"/>
              </a:rPr>
              <a:t>Jubair Hossain                 2021626642</a:t>
            </a:r>
            <a:endParaRPr lang="en-US" sz="2000" dirty="0">
              <a:solidFill>
                <a:srgbClr val="FFFFFF"/>
              </a:solidFill>
              <a:effectLst/>
              <a:latin typeface="YAFdJjTk5UU 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11" name="TextBox 10">
            <a:extLst>
              <a:ext uri="{FF2B5EF4-FFF2-40B4-BE49-F238E27FC236}">
                <a16:creationId xmlns:a16="http://schemas.microsoft.com/office/drawing/2014/main" id="{10A4A59B-0579-476A-804A-3EB71A6D3D1D}"/>
              </a:ext>
            </a:extLst>
          </p:cNvPr>
          <p:cNvSpPr txBox="1"/>
          <p:nvPr/>
        </p:nvSpPr>
        <p:spPr>
          <a:xfrm>
            <a:off x="3357000" y="350112"/>
            <a:ext cx="4930200" cy="523220"/>
          </a:xfrm>
          <a:prstGeom prst="rect">
            <a:avLst/>
          </a:prstGeom>
          <a:noFill/>
        </p:spPr>
        <p:txBody>
          <a:bodyPr wrap="square">
            <a:spAutoFit/>
          </a:bodyPr>
          <a:lstStyle/>
          <a:p>
            <a:r>
              <a:rPr lang="en-US" sz="2800" b="1" i="0" dirty="0">
                <a:solidFill>
                  <a:srgbClr val="5CE1E6"/>
                </a:solidFill>
                <a:effectLst/>
              </a:rPr>
              <a:t>Introduction</a:t>
            </a:r>
            <a:endParaRPr lang="en-US" sz="2800" dirty="0"/>
          </a:p>
        </p:txBody>
      </p:sp>
      <p:sp>
        <p:nvSpPr>
          <p:cNvPr id="13" name="TextBox 12">
            <a:extLst>
              <a:ext uri="{FF2B5EF4-FFF2-40B4-BE49-F238E27FC236}">
                <a16:creationId xmlns:a16="http://schemas.microsoft.com/office/drawing/2014/main" id="{EBB24245-098E-4A62-BBF8-388EDF5BA9EC}"/>
              </a:ext>
            </a:extLst>
          </p:cNvPr>
          <p:cNvSpPr txBox="1"/>
          <p:nvPr/>
        </p:nvSpPr>
        <p:spPr>
          <a:xfrm>
            <a:off x="857700" y="1102807"/>
            <a:ext cx="7428600" cy="2308324"/>
          </a:xfrm>
          <a:prstGeom prst="rect">
            <a:avLst/>
          </a:prstGeom>
          <a:noFill/>
        </p:spPr>
        <p:txBody>
          <a:bodyPr wrap="square">
            <a:spAutoFit/>
          </a:bodyPr>
          <a:lstStyle/>
          <a:p>
            <a:r>
              <a:rPr lang="en-US" sz="1600" b="0" i="0" dirty="0">
                <a:solidFill>
                  <a:srgbClr val="FFFFFF"/>
                </a:solidFill>
                <a:effectLst/>
              </a:rPr>
              <a:t>E-pharmacy, an e-commerce platform for online medications, has launched to provide patients with the best possible experience when buying prescription drugs. The features we have implemented here are the Registration part, Payment options, shop, cart option, payment method, payment history, diagnosis, and live chat. Patients will get all types of medicines in an easy way to purchase and payment. Patients can view their purchase history and what they cart in the shop. In the diagnosis option, patients can choose what doctor they need and get an instant appointment .On the other hand, there is a live chat where patients can chat with the admin about their problems.</a:t>
            </a:r>
            <a:endParaRPr lang="en-US" sz="1600" dirty="0"/>
          </a:p>
        </p:txBody>
      </p:sp>
    </p:spTree>
    <p:extLst>
      <p:ext uri="{BB962C8B-B14F-4D97-AF65-F5344CB8AC3E}">
        <p14:creationId xmlns:p14="http://schemas.microsoft.com/office/powerpoint/2010/main" val="1221774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5" name="TextBox 4">
            <a:extLst>
              <a:ext uri="{FF2B5EF4-FFF2-40B4-BE49-F238E27FC236}">
                <a16:creationId xmlns:a16="http://schemas.microsoft.com/office/drawing/2014/main" id="{AAD4C0D4-58A2-469B-B425-8823D2FA4CCA}"/>
              </a:ext>
            </a:extLst>
          </p:cNvPr>
          <p:cNvSpPr txBox="1"/>
          <p:nvPr/>
        </p:nvSpPr>
        <p:spPr>
          <a:xfrm>
            <a:off x="3227400" y="364512"/>
            <a:ext cx="4640400" cy="523220"/>
          </a:xfrm>
          <a:prstGeom prst="rect">
            <a:avLst/>
          </a:prstGeom>
          <a:noFill/>
        </p:spPr>
        <p:txBody>
          <a:bodyPr wrap="square">
            <a:spAutoFit/>
          </a:bodyPr>
          <a:lstStyle/>
          <a:p>
            <a:r>
              <a:rPr lang="en-US" sz="2800" b="1" i="0" dirty="0">
                <a:solidFill>
                  <a:srgbClr val="40EDF4"/>
                </a:solidFill>
                <a:effectLst/>
              </a:rPr>
              <a:t>Key Features</a:t>
            </a:r>
            <a:endParaRPr lang="en-US" sz="2800" dirty="0"/>
          </a:p>
        </p:txBody>
      </p:sp>
      <p:sp>
        <p:nvSpPr>
          <p:cNvPr id="7" name="TextBox 6">
            <a:extLst>
              <a:ext uri="{FF2B5EF4-FFF2-40B4-BE49-F238E27FC236}">
                <a16:creationId xmlns:a16="http://schemas.microsoft.com/office/drawing/2014/main" id="{0700CEEE-2AC4-4D81-B292-F457C8F29D0F}"/>
              </a:ext>
            </a:extLst>
          </p:cNvPr>
          <p:cNvSpPr txBox="1"/>
          <p:nvPr/>
        </p:nvSpPr>
        <p:spPr>
          <a:xfrm>
            <a:off x="2946600" y="1395225"/>
            <a:ext cx="4640400" cy="2554545"/>
          </a:xfrm>
          <a:prstGeom prst="rect">
            <a:avLst/>
          </a:prstGeom>
          <a:noFill/>
        </p:spPr>
        <p:txBody>
          <a:bodyPr wrap="square">
            <a:spAutoFit/>
          </a:bodyPr>
          <a:lstStyle/>
          <a:p>
            <a:pPr marL="285750" indent="-285750">
              <a:buFont typeface="Wingdings" panose="05000000000000000000" pitchFamily="2" charset="2"/>
              <a:buChar char="q"/>
            </a:pPr>
            <a:r>
              <a:rPr lang="en-US" sz="1800" dirty="0">
                <a:solidFill>
                  <a:schemeClr val="tx1"/>
                </a:solidFill>
              </a:rPr>
              <a:t>Registration and Log In</a:t>
            </a:r>
          </a:p>
          <a:p>
            <a:pPr marL="285750" indent="-285750">
              <a:buFont typeface="Wingdings" panose="05000000000000000000" pitchFamily="2" charset="2"/>
              <a:buChar char="q"/>
            </a:pPr>
            <a:r>
              <a:rPr lang="en-US" sz="1800" dirty="0">
                <a:solidFill>
                  <a:schemeClr val="tx1"/>
                </a:solidFill>
              </a:rPr>
              <a:t>Shopping and Cart</a:t>
            </a:r>
          </a:p>
          <a:p>
            <a:pPr marL="285750" indent="-285750">
              <a:buFont typeface="Wingdings" panose="05000000000000000000" pitchFamily="2" charset="2"/>
              <a:buChar char="q"/>
            </a:pPr>
            <a:r>
              <a:rPr lang="en-US" sz="1800" dirty="0">
                <a:solidFill>
                  <a:schemeClr val="tx1"/>
                </a:solidFill>
              </a:rPr>
              <a:t>Payment Methods</a:t>
            </a:r>
          </a:p>
          <a:p>
            <a:pPr marL="285750" indent="-285750">
              <a:buFont typeface="Wingdings" panose="05000000000000000000" pitchFamily="2" charset="2"/>
              <a:buChar char="q"/>
            </a:pPr>
            <a:r>
              <a:rPr lang="en-US" sz="1800" dirty="0">
                <a:solidFill>
                  <a:schemeClr val="tx1"/>
                </a:solidFill>
              </a:rPr>
              <a:t>History of Payments</a:t>
            </a:r>
          </a:p>
          <a:p>
            <a:pPr marL="285750" indent="-285750">
              <a:buFont typeface="Wingdings" panose="05000000000000000000" pitchFamily="2" charset="2"/>
              <a:buChar char="q"/>
            </a:pPr>
            <a:r>
              <a:rPr lang="en-US" sz="1800" dirty="0">
                <a:solidFill>
                  <a:schemeClr val="tx1"/>
                </a:solidFill>
              </a:rPr>
              <a:t>Diagnosis</a:t>
            </a:r>
          </a:p>
          <a:p>
            <a:pPr marL="285750" indent="-285750">
              <a:buFont typeface="Wingdings" panose="05000000000000000000" pitchFamily="2" charset="2"/>
              <a:buChar char="q"/>
            </a:pPr>
            <a:r>
              <a:rPr lang="en-US" sz="1800" dirty="0">
                <a:solidFill>
                  <a:schemeClr val="tx1"/>
                </a:solidFill>
              </a:rPr>
              <a:t>Live Chat </a:t>
            </a:r>
          </a:p>
          <a:p>
            <a:pPr marL="285750" indent="-285750">
              <a:buFont typeface="Wingdings" panose="05000000000000000000" pitchFamily="2" charset="2"/>
              <a:buChar char="q"/>
            </a:pPr>
            <a:r>
              <a:rPr lang="en-US" sz="1800" dirty="0">
                <a:solidFill>
                  <a:schemeClr val="tx1"/>
                </a:solidFill>
              </a:rPr>
              <a:t>Admin Dashboard</a:t>
            </a:r>
          </a:p>
          <a:p>
            <a:pPr marL="285750" indent="-285750">
              <a:buFont typeface="Wingdings" panose="05000000000000000000" pitchFamily="2" charset="2"/>
              <a:buChar char="q"/>
            </a:pPr>
            <a:r>
              <a:rPr lang="en-US" sz="1800" dirty="0">
                <a:solidFill>
                  <a:schemeClr val="tx1"/>
                </a:solidFill>
              </a:rPr>
              <a:t>Responsive </a:t>
            </a:r>
          </a:p>
          <a:p>
            <a:pPr marL="285750" indent="-285750">
              <a:buFontTx/>
              <a:buChar char="-"/>
            </a:pPr>
            <a:endParaRPr lang="en-US" sz="1600" dirty="0">
              <a:solidFill>
                <a:schemeClr val="tx1"/>
              </a:solidFill>
            </a:endParaRPr>
          </a:p>
        </p:txBody>
      </p:sp>
    </p:spTree>
    <p:extLst>
      <p:ext uri="{BB962C8B-B14F-4D97-AF65-F5344CB8AC3E}">
        <p14:creationId xmlns:p14="http://schemas.microsoft.com/office/powerpoint/2010/main" val="2933332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5" name="TextBox 4">
            <a:extLst>
              <a:ext uri="{FF2B5EF4-FFF2-40B4-BE49-F238E27FC236}">
                <a16:creationId xmlns:a16="http://schemas.microsoft.com/office/drawing/2014/main" id="{39BD360B-C7FE-4733-9F54-27E9CCAC8664}"/>
              </a:ext>
            </a:extLst>
          </p:cNvPr>
          <p:cNvSpPr txBox="1"/>
          <p:nvPr/>
        </p:nvSpPr>
        <p:spPr>
          <a:xfrm>
            <a:off x="3810600" y="422112"/>
            <a:ext cx="4640400" cy="738664"/>
          </a:xfrm>
          <a:prstGeom prst="rect">
            <a:avLst/>
          </a:prstGeom>
          <a:noFill/>
        </p:spPr>
        <p:txBody>
          <a:bodyPr wrap="square">
            <a:spAutoFit/>
          </a:bodyPr>
          <a:lstStyle/>
          <a:p>
            <a:r>
              <a:rPr lang="en-US" sz="2800" b="1" dirty="0">
                <a:solidFill>
                  <a:srgbClr val="40EDF4"/>
                </a:solidFill>
              </a:rPr>
              <a:t>Tools</a:t>
            </a:r>
            <a:endParaRPr lang="en-US" sz="2800" dirty="0"/>
          </a:p>
          <a:p>
            <a:endParaRPr lang="en-US" sz="1400" dirty="0"/>
          </a:p>
        </p:txBody>
      </p:sp>
      <p:sp>
        <p:nvSpPr>
          <p:cNvPr id="7" name="TextBox 6">
            <a:extLst>
              <a:ext uri="{FF2B5EF4-FFF2-40B4-BE49-F238E27FC236}">
                <a16:creationId xmlns:a16="http://schemas.microsoft.com/office/drawing/2014/main" id="{5AA7BC23-7633-4920-8A72-1D10FD271C01}"/>
              </a:ext>
            </a:extLst>
          </p:cNvPr>
          <p:cNvSpPr txBox="1"/>
          <p:nvPr/>
        </p:nvSpPr>
        <p:spPr>
          <a:xfrm>
            <a:off x="2946600" y="1372512"/>
            <a:ext cx="4640400" cy="1508105"/>
          </a:xfrm>
          <a:prstGeom prst="rect">
            <a:avLst/>
          </a:prstGeom>
          <a:noFill/>
        </p:spPr>
        <p:txBody>
          <a:bodyPr wrap="square">
            <a:spAutoFit/>
          </a:bodyPr>
          <a:lstStyle/>
          <a:p>
            <a:pPr marL="285750" indent="-285750">
              <a:buFont typeface="Wingdings" panose="05000000000000000000" pitchFamily="2" charset="2"/>
              <a:buChar char="q"/>
            </a:pPr>
            <a:r>
              <a:rPr lang="en-US" sz="1600" b="1" dirty="0">
                <a:solidFill>
                  <a:schemeClr val="tx1"/>
                </a:solidFill>
              </a:rPr>
              <a:t>Frontend – HTML, CSS,API</a:t>
            </a:r>
          </a:p>
          <a:p>
            <a:pPr marL="285750" indent="-285750">
              <a:buFont typeface="Wingdings" panose="05000000000000000000" pitchFamily="2" charset="2"/>
              <a:buChar char="q"/>
            </a:pPr>
            <a:r>
              <a:rPr lang="en-US" sz="1600" b="1" dirty="0">
                <a:solidFill>
                  <a:schemeClr val="tx1"/>
                </a:solidFill>
              </a:rPr>
              <a:t>Backend – Python Flask</a:t>
            </a:r>
          </a:p>
          <a:p>
            <a:pPr marL="285750" indent="-285750">
              <a:buFont typeface="Wingdings" panose="05000000000000000000" pitchFamily="2" charset="2"/>
              <a:buChar char="q"/>
            </a:pPr>
            <a:r>
              <a:rPr lang="en-US" sz="1600" b="1" dirty="0">
                <a:solidFill>
                  <a:schemeClr val="tx1"/>
                </a:solidFill>
              </a:rPr>
              <a:t>Database – MySQL </a:t>
            </a:r>
            <a:r>
              <a:rPr lang="en-US" sz="1600" b="1" dirty="0" err="1">
                <a:solidFill>
                  <a:schemeClr val="tx1"/>
                </a:solidFill>
              </a:rPr>
              <a:t>LocalHost</a:t>
            </a:r>
            <a:endParaRPr lang="en-US" sz="1600" b="1" dirty="0">
              <a:solidFill>
                <a:schemeClr val="tx1"/>
              </a:solidFill>
            </a:endParaRPr>
          </a:p>
          <a:p>
            <a:pPr marL="285750" indent="-285750">
              <a:buFont typeface="Wingdings" panose="05000000000000000000" pitchFamily="2" charset="2"/>
              <a:buChar char="q"/>
            </a:pPr>
            <a:r>
              <a:rPr lang="en-US" sz="1600" b="1" dirty="0">
                <a:solidFill>
                  <a:schemeClr val="tx1"/>
                </a:solidFill>
              </a:rPr>
              <a:t>IDE – VS code</a:t>
            </a:r>
          </a:p>
          <a:p>
            <a:pPr marL="285750" indent="-285750">
              <a:buFont typeface="Wingdings" panose="05000000000000000000" pitchFamily="2" charset="2"/>
              <a:buChar char="q"/>
            </a:pPr>
            <a:endParaRPr lang="en-US" b="1" dirty="0">
              <a:solidFill>
                <a:srgbClr val="40EDF4"/>
              </a:solidFill>
            </a:endParaRPr>
          </a:p>
          <a:p>
            <a:pPr marL="285750" indent="-285750">
              <a:buFont typeface="Wingdings" panose="05000000000000000000" pitchFamily="2" charset="2"/>
              <a:buChar char="q"/>
            </a:pPr>
            <a:endParaRPr lang="en-US" b="1" dirty="0">
              <a:solidFill>
                <a:srgbClr val="40EDF4"/>
              </a:solidFill>
            </a:endParaRPr>
          </a:p>
        </p:txBody>
      </p:sp>
    </p:spTree>
    <p:extLst>
      <p:ext uri="{BB962C8B-B14F-4D97-AF65-F5344CB8AC3E}">
        <p14:creationId xmlns:p14="http://schemas.microsoft.com/office/powerpoint/2010/main" val="3632704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5" name="Picture 4">
            <a:extLst>
              <a:ext uri="{FF2B5EF4-FFF2-40B4-BE49-F238E27FC236}">
                <a16:creationId xmlns:a16="http://schemas.microsoft.com/office/drawing/2014/main" id="{3C199B45-B88C-437D-923C-F821BF7749E6}"/>
              </a:ext>
            </a:extLst>
          </p:cNvPr>
          <p:cNvPicPr>
            <a:picLocks noChangeAspect="1"/>
          </p:cNvPicPr>
          <p:nvPr/>
        </p:nvPicPr>
        <p:blipFill>
          <a:blip r:embed="rId3"/>
          <a:stretch>
            <a:fillRect/>
          </a:stretch>
        </p:blipFill>
        <p:spPr>
          <a:xfrm>
            <a:off x="400763" y="1442086"/>
            <a:ext cx="4275190" cy="2415749"/>
          </a:xfrm>
          <a:prstGeom prst="rect">
            <a:avLst/>
          </a:prstGeom>
        </p:spPr>
      </p:pic>
      <p:pic>
        <p:nvPicPr>
          <p:cNvPr id="7" name="Picture 6">
            <a:extLst>
              <a:ext uri="{FF2B5EF4-FFF2-40B4-BE49-F238E27FC236}">
                <a16:creationId xmlns:a16="http://schemas.microsoft.com/office/drawing/2014/main" id="{75972E00-0377-465E-A592-01A07E3E08E3}"/>
              </a:ext>
            </a:extLst>
          </p:cNvPr>
          <p:cNvPicPr>
            <a:picLocks noChangeAspect="1"/>
          </p:cNvPicPr>
          <p:nvPr/>
        </p:nvPicPr>
        <p:blipFill>
          <a:blip r:embed="rId4"/>
          <a:stretch>
            <a:fillRect/>
          </a:stretch>
        </p:blipFill>
        <p:spPr>
          <a:xfrm>
            <a:off x="5222797" y="1442086"/>
            <a:ext cx="3520440" cy="2417885"/>
          </a:xfrm>
          <a:prstGeom prst="rect">
            <a:avLst/>
          </a:prstGeom>
        </p:spPr>
      </p:pic>
      <p:sp>
        <p:nvSpPr>
          <p:cNvPr id="9" name="TextBox 8">
            <a:extLst>
              <a:ext uri="{FF2B5EF4-FFF2-40B4-BE49-F238E27FC236}">
                <a16:creationId xmlns:a16="http://schemas.microsoft.com/office/drawing/2014/main" id="{A454D710-20D3-4E5C-BC12-625CFB80D6C7}"/>
              </a:ext>
            </a:extLst>
          </p:cNvPr>
          <p:cNvSpPr txBox="1"/>
          <p:nvPr/>
        </p:nvSpPr>
        <p:spPr>
          <a:xfrm>
            <a:off x="239400" y="594912"/>
            <a:ext cx="4640400" cy="461665"/>
          </a:xfrm>
          <a:prstGeom prst="rect">
            <a:avLst/>
          </a:prstGeom>
          <a:noFill/>
        </p:spPr>
        <p:txBody>
          <a:bodyPr wrap="square">
            <a:spAutoFit/>
          </a:bodyPr>
          <a:lstStyle/>
          <a:p>
            <a:pPr marL="285750" indent="-285750">
              <a:buFont typeface="Wingdings" panose="05000000000000000000" pitchFamily="2" charset="2"/>
              <a:buChar char="q"/>
            </a:pPr>
            <a:r>
              <a:rPr lang="en-US" sz="2400" dirty="0">
                <a:solidFill>
                  <a:schemeClr val="tx1"/>
                </a:solidFill>
              </a:rPr>
              <a:t>Registration and Log In</a:t>
            </a:r>
          </a:p>
        </p:txBody>
      </p:sp>
    </p:spTree>
    <p:extLst>
      <p:ext uri="{BB962C8B-B14F-4D97-AF65-F5344CB8AC3E}">
        <p14:creationId xmlns:p14="http://schemas.microsoft.com/office/powerpoint/2010/main" val="2858287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E391185-8B7C-4B7C-BEFA-7BD4888CF8B1}"/>
              </a:ext>
            </a:extLst>
          </p:cNvPr>
          <p:cNvSpPr>
            <a:spLocks noGrp="1"/>
          </p:cNvSpPr>
          <p:nvPr>
            <p:ph type="title" idx="9"/>
          </p:nvPr>
        </p:nvSpPr>
        <p:spPr>
          <a:xfrm>
            <a:off x="-468000" y="194147"/>
            <a:ext cx="3852000" cy="189775"/>
          </a:xfrm>
        </p:spPr>
        <p:txBody>
          <a:bodyPr/>
          <a:lstStyle/>
          <a:p>
            <a:r>
              <a:rPr lang="en-US" dirty="0"/>
              <a:t>Homepage</a:t>
            </a:r>
          </a:p>
        </p:txBody>
      </p:sp>
      <p:pic>
        <p:nvPicPr>
          <p:cNvPr id="13" name="Picture 12">
            <a:extLst>
              <a:ext uri="{FF2B5EF4-FFF2-40B4-BE49-F238E27FC236}">
                <a16:creationId xmlns:a16="http://schemas.microsoft.com/office/drawing/2014/main" id="{013990E4-8966-44A2-A601-DBE273B01B73}"/>
              </a:ext>
            </a:extLst>
          </p:cNvPr>
          <p:cNvPicPr>
            <a:picLocks noChangeAspect="1"/>
          </p:cNvPicPr>
          <p:nvPr/>
        </p:nvPicPr>
        <p:blipFill>
          <a:blip r:embed="rId2"/>
          <a:stretch>
            <a:fillRect/>
          </a:stretch>
        </p:blipFill>
        <p:spPr>
          <a:xfrm>
            <a:off x="0" y="955814"/>
            <a:ext cx="9144000" cy="4300185"/>
          </a:xfrm>
          <a:prstGeom prst="rect">
            <a:avLst/>
          </a:prstGeom>
        </p:spPr>
      </p:pic>
    </p:spTree>
    <p:extLst>
      <p:ext uri="{BB962C8B-B14F-4D97-AF65-F5344CB8AC3E}">
        <p14:creationId xmlns:p14="http://schemas.microsoft.com/office/powerpoint/2010/main" val="664324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E391185-8B7C-4B7C-BEFA-7BD4888CF8B1}"/>
              </a:ext>
            </a:extLst>
          </p:cNvPr>
          <p:cNvSpPr>
            <a:spLocks noGrp="1"/>
          </p:cNvSpPr>
          <p:nvPr>
            <p:ph type="title" idx="9"/>
          </p:nvPr>
        </p:nvSpPr>
        <p:spPr>
          <a:xfrm>
            <a:off x="-302400" y="414475"/>
            <a:ext cx="2750400" cy="567300"/>
          </a:xfrm>
        </p:spPr>
        <p:txBody>
          <a:bodyPr/>
          <a:lstStyle/>
          <a:p>
            <a:r>
              <a:rPr lang="en-US" sz="2800" dirty="0"/>
              <a:t>Shop Page </a:t>
            </a:r>
          </a:p>
        </p:txBody>
      </p:sp>
      <p:pic>
        <p:nvPicPr>
          <p:cNvPr id="3" name="Picture 2">
            <a:extLst>
              <a:ext uri="{FF2B5EF4-FFF2-40B4-BE49-F238E27FC236}">
                <a16:creationId xmlns:a16="http://schemas.microsoft.com/office/drawing/2014/main" id="{48C1F36D-DE86-4812-82B5-49997A6AAF69}"/>
              </a:ext>
            </a:extLst>
          </p:cNvPr>
          <p:cNvPicPr>
            <a:picLocks noChangeAspect="1"/>
          </p:cNvPicPr>
          <p:nvPr/>
        </p:nvPicPr>
        <p:blipFill>
          <a:blip r:embed="rId2"/>
          <a:stretch>
            <a:fillRect/>
          </a:stretch>
        </p:blipFill>
        <p:spPr>
          <a:xfrm>
            <a:off x="140976" y="1125901"/>
            <a:ext cx="4085424" cy="3914099"/>
          </a:xfrm>
          <a:prstGeom prst="rect">
            <a:avLst/>
          </a:prstGeom>
        </p:spPr>
      </p:pic>
      <p:pic>
        <p:nvPicPr>
          <p:cNvPr id="5" name="Picture 4">
            <a:extLst>
              <a:ext uri="{FF2B5EF4-FFF2-40B4-BE49-F238E27FC236}">
                <a16:creationId xmlns:a16="http://schemas.microsoft.com/office/drawing/2014/main" id="{21159BBD-A4D7-4509-AD0D-155D623ACD9B}"/>
              </a:ext>
            </a:extLst>
          </p:cNvPr>
          <p:cNvPicPr>
            <a:picLocks noChangeAspect="1"/>
          </p:cNvPicPr>
          <p:nvPr/>
        </p:nvPicPr>
        <p:blipFill>
          <a:blip r:embed="rId3"/>
          <a:stretch>
            <a:fillRect/>
          </a:stretch>
        </p:blipFill>
        <p:spPr>
          <a:xfrm>
            <a:off x="4831200" y="1125901"/>
            <a:ext cx="4085424" cy="3914099"/>
          </a:xfrm>
          <a:prstGeom prst="rect">
            <a:avLst/>
          </a:prstGeom>
        </p:spPr>
      </p:pic>
      <p:sp>
        <p:nvSpPr>
          <p:cNvPr id="7" name="TextBox 6">
            <a:extLst>
              <a:ext uri="{FF2B5EF4-FFF2-40B4-BE49-F238E27FC236}">
                <a16:creationId xmlns:a16="http://schemas.microsoft.com/office/drawing/2014/main" id="{BBB181CE-9D39-432B-A4D2-3B1A294C0D55}"/>
              </a:ext>
            </a:extLst>
          </p:cNvPr>
          <p:cNvSpPr txBox="1"/>
          <p:nvPr/>
        </p:nvSpPr>
        <p:spPr>
          <a:xfrm>
            <a:off x="2066400" y="2416512"/>
            <a:ext cx="4737600" cy="307777"/>
          </a:xfrm>
          <a:prstGeom prst="rect">
            <a:avLst/>
          </a:prstGeom>
          <a:noFill/>
        </p:spPr>
        <p:txBody>
          <a:bodyPr wrap="square">
            <a:spAutoFit/>
          </a:bodyPr>
          <a:lstStyle/>
          <a:p>
            <a:r>
              <a:rPr lang="en-US" sz="1400" b="0" i="0" dirty="0">
                <a:solidFill>
                  <a:srgbClr val="FFFFFF"/>
                </a:solidFill>
                <a:effectLst/>
                <a:latin typeface="DM Sans ExtraBold" panose="020B0604020202020204" charset="0"/>
                <a:ea typeface="DM Sans ExtraBold" panose="020B0604020202020204" charset="0"/>
                <a:cs typeface="DM Sans ExtraBold" panose="020B0604020202020204" charset="0"/>
              </a:rPr>
              <a:t>Cart</a:t>
            </a:r>
            <a:endParaRPr lang="en-US" dirty="0"/>
          </a:p>
        </p:txBody>
      </p:sp>
      <p:sp>
        <p:nvSpPr>
          <p:cNvPr id="9" name="TextBox 8">
            <a:extLst>
              <a:ext uri="{FF2B5EF4-FFF2-40B4-BE49-F238E27FC236}">
                <a16:creationId xmlns:a16="http://schemas.microsoft.com/office/drawing/2014/main" id="{8BB9645B-AFA7-4A90-8991-D59C6362FE69}"/>
              </a:ext>
            </a:extLst>
          </p:cNvPr>
          <p:cNvSpPr txBox="1"/>
          <p:nvPr/>
        </p:nvSpPr>
        <p:spPr>
          <a:xfrm>
            <a:off x="4752000" y="436515"/>
            <a:ext cx="4737600" cy="523220"/>
          </a:xfrm>
          <a:prstGeom prst="rect">
            <a:avLst/>
          </a:prstGeom>
          <a:noFill/>
        </p:spPr>
        <p:txBody>
          <a:bodyPr wrap="square">
            <a:spAutoFit/>
          </a:bodyPr>
          <a:lstStyle/>
          <a:p>
            <a:r>
              <a:rPr lang="en-US" sz="2800" b="0" i="0" dirty="0">
                <a:solidFill>
                  <a:srgbClr val="FFFFFF"/>
                </a:solidFill>
                <a:effectLst/>
                <a:latin typeface="DM Sans ExtraBold" panose="020B0604020202020204" charset="0"/>
                <a:ea typeface="DM Sans ExtraBold" panose="020B0604020202020204" charset="0"/>
                <a:cs typeface="DM Sans ExtraBold" panose="020B0604020202020204" charset="0"/>
              </a:rPr>
              <a:t>Cart</a:t>
            </a:r>
            <a:endParaRPr lang="en-US" sz="2800" dirty="0"/>
          </a:p>
        </p:txBody>
      </p:sp>
    </p:spTree>
    <p:extLst>
      <p:ext uri="{BB962C8B-B14F-4D97-AF65-F5344CB8AC3E}">
        <p14:creationId xmlns:p14="http://schemas.microsoft.com/office/powerpoint/2010/main" val="3433286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E391185-8B7C-4B7C-BEFA-7BD4888CF8B1}"/>
              </a:ext>
            </a:extLst>
          </p:cNvPr>
          <p:cNvSpPr>
            <a:spLocks noGrp="1"/>
          </p:cNvSpPr>
          <p:nvPr>
            <p:ph type="title" idx="9"/>
          </p:nvPr>
        </p:nvSpPr>
        <p:spPr>
          <a:xfrm>
            <a:off x="-129600" y="280650"/>
            <a:ext cx="3556800" cy="567300"/>
          </a:xfrm>
        </p:spPr>
        <p:txBody>
          <a:bodyPr/>
          <a:lstStyle/>
          <a:p>
            <a:r>
              <a:rPr lang="en-US" sz="2800" dirty="0"/>
              <a:t>Checkout Page</a:t>
            </a:r>
          </a:p>
        </p:txBody>
      </p:sp>
      <p:pic>
        <p:nvPicPr>
          <p:cNvPr id="3" name="Picture 2">
            <a:extLst>
              <a:ext uri="{FF2B5EF4-FFF2-40B4-BE49-F238E27FC236}">
                <a16:creationId xmlns:a16="http://schemas.microsoft.com/office/drawing/2014/main" id="{1A29C702-0725-4FE6-AA6B-46495B6D2503}"/>
              </a:ext>
            </a:extLst>
          </p:cNvPr>
          <p:cNvPicPr>
            <a:picLocks noChangeAspect="1"/>
          </p:cNvPicPr>
          <p:nvPr/>
        </p:nvPicPr>
        <p:blipFill>
          <a:blip r:embed="rId2"/>
          <a:stretch>
            <a:fillRect/>
          </a:stretch>
        </p:blipFill>
        <p:spPr>
          <a:xfrm>
            <a:off x="223200" y="1101600"/>
            <a:ext cx="3913212" cy="3761250"/>
          </a:xfrm>
          <a:prstGeom prst="rect">
            <a:avLst/>
          </a:prstGeom>
        </p:spPr>
      </p:pic>
      <p:pic>
        <p:nvPicPr>
          <p:cNvPr id="5" name="Picture 4">
            <a:extLst>
              <a:ext uri="{FF2B5EF4-FFF2-40B4-BE49-F238E27FC236}">
                <a16:creationId xmlns:a16="http://schemas.microsoft.com/office/drawing/2014/main" id="{132F20E8-B9E6-473F-9839-1EC19F39FE52}"/>
              </a:ext>
            </a:extLst>
          </p:cNvPr>
          <p:cNvPicPr>
            <a:picLocks noChangeAspect="1"/>
          </p:cNvPicPr>
          <p:nvPr/>
        </p:nvPicPr>
        <p:blipFill>
          <a:blip r:embed="rId3"/>
          <a:stretch>
            <a:fillRect/>
          </a:stretch>
        </p:blipFill>
        <p:spPr>
          <a:xfrm>
            <a:off x="4767540" y="1459350"/>
            <a:ext cx="4153260" cy="470250"/>
          </a:xfrm>
          <a:prstGeom prst="rect">
            <a:avLst/>
          </a:prstGeom>
        </p:spPr>
      </p:pic>
      <p:sp>
        <p:nvSpPr>
          <p:cNvPr id="7" name="Title 10">
            <a:extLst>
              <a:ext uri="{FF2B5EF4-FFF2-40B4-BE49-F238E27FC236}">
                <a16:creationId xmlns:a16="http://schemas.microsoft.com/office/drawing/2014/main" id="{DC2DB524-0961-41B9-8004-12FC73169A4B}"/>
              </a:ext>
            </a:extLst>
          </p:cNvPr>
          <p:cNvSpPr txBox="1">
            <a:spLocks/>
          </p:cNvSpPr>
          <p:nvPr/>
        </p:nvSpPr>
        <p:spPr>
          <a:xfrm>
            <a:off x="5068800" y="280650"/>
            <a:ext cx="3556800" cy="567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1pPr>
            <a:lvl2pPr marR="0" lvl="1"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2pPr>
            <a:lvl3pPr marR="0" lvl="2"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3pPr>
            <a:lvl4pPr marR="0" lvl="3"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4pPr>
            <a:lvl5pPr marR="0" lvl="4"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5pPr>
            <a:lvl6pPr marR="0" lvl="5"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6pPr>
            <a:lvl7pPr marR="0" lvl="6"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7pPr>
            <a:lvl8pPr marR="0" lvl="7"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8pPr>
            <a:lvl9pPr marR="0" lvl="8"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9pPr>
          </a:lstStyle>
          <a:p>
            <a:r>
              <a:rPr lang="en-US" sz="2800" dirty="0"/>
              <a:t>Payment Methods</a:t>
            </a:r>
          </a:p>
        </p:txBody>
      </p:sp>
    </p:spTree>
    <p:extLst>
      <p:ext uri="{BB962C8B-B14F-4D97-AF65-F5344CB8AC3E}">
        <p14:creationId xmlns:p14="http://schemas.microsoft.com/office/powerpoint/2010/main" val="2937548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E391185-8B7C-4B7C-BEFA-7BD4888CF8B1}"/>
              </a:ext>
            </a:extLst>
          </p:cNvPr>
          <p:cNvSpPr>
            <a:spLocks noGrp="1"/>
          </p:cNvSpPr>
          <p:nvPr>
            <p:ph type="title" idx="9"/>
          </p:nvPr>
        </p:nvSpPr>
        <p:spPr>
          <a:xfrm>
            <a:off x="0" y="2104015"/>
            <a:ext cx="3044280" cy="567300"/>
          </a:xfrm>
        </p:spPr>
        <p:txBody>
          <a:bodyPr/>
          <a:lstStyle/>
          <a:p>
            <a:r>
              <a:rPr lang="en-US" dirty="0"/>
              <a:t>Diagnosis</a:t>
            </a:r>
          </a:p>
        </p:txBody>
      </p:sp>
      <p:pic>
        <p:nvPicPr>
          <p:cNvPr id="3" name="Picture 2">
            <a:extLst>
              <a:ext uri="{FF2B5EF4-FFF2-40B4-BE49-F238E27FC236}">
                <a16:creationId xmlns:a16="http://schemas.microsoft.com/office/drawing/2014/main" id="{83EB7DAD-4F8B-45B4-B345-68B11252F412}"/>
              </a:ext>
            </a:extLst>
          </p:cNvPr>
          <p:cNvPicPr>
            <a:picLocks noChangeAspect="1"/>
          </p:cNvPicPr>
          <p:nvPr/>
        </p:nvPicPr>
        <p:blipFill>
          <a:blip r:embed="rId2"/>
          <a:stretch>
            <a:fillRect/>
          </a:stretch>
        </p:blipFill>
        <p:spPr>
          <a:xfrm>
            <a:off x="3169860" y="251460"/>
            <a:ext cx="5974140" cy="4640580"/>
          </a:xfrm>
          <a:prstGeom prst="rect">
            <a:avLst/>
          </a:prstGeom>
        </p:spPr>
      </p:pic>
    </p:spTree>
    <p:extLst>
      <p:ext uri="{BB962C8B-B14F-4D97-AF65-F5344CB8AC3E}">
        <p14:creationId xmlns:p14="http://schemas.microsoft.com/office/powerpoint/2010/main" val="2336214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E391185-8B7C-4B7C-BEFA-7BD4888CF8B1}"/>
              </a:ext>
            </a:extLst>
          </p:cNvPr>
          <p:cNvSpPr>
            <a:spLocks noGrp="1"/>
          </p:cNvSpPr>
          <p:nvPr>
            <p:ph type="title" idx="9"/>
          </p:nvPr>
        </p:nvSpPr>
        <p:spPr>
          <a:xfrm>
            <a:off x="-346800" y="290455"/>
            <a:ext cx="3501480" cy="567300"/>
          </a:xfrm>
        </p:spPr>
        <p:txBody>
          <a:bodyPr/>
          <a:lstStyle/>
          <a:p>
            <a:r>
              <a:rPr lang="en-US" dirty="0"/>
              <a:t>Live Chat</a:t>
            </a:r>
          </a:p>
        </p:txBody>
      </p:sp>
      <p:pic>
        <p:nvPicPr>
          <p:cNvPr id="3" name="Picture 2">
            <a:extLst>
              <a:ext uri="{FF2B5EF4-FFF2-40B4-BE49-F238E27FC236}">
                <a16:creationId xmlns:a16="http://schemas.microsoft.com/office/drawing/2014/main" id="{E5B396DA-72BF-456F-9F6C-DE99A0E3ED96}"/>
              </a:ext>
            </a:extLst>
          </p:cNvPr>
          <p:cNvPicPr>
            <a:picLocks noChangeAspect="1"/>
          </p:cNvPicPr>
          <p:nvPr/>
        </p:nvPicPr>
        <p:blipFill>
          <a:blip r:embed="rId2"/>
          <a:stretch>
            <a:fillRect/>
          </a:stretch>
        </p:blipFill>
        <p:spPr>
          <a:xfrm>
            <a:off x="296471" y="1134285"/>
            <a:ext cx="2583889" cy="3855920"/>
          </a:xfrm>
          <a:prstGeom prst="rect">
            <a:avLst/>
          </a:prstGeom>
        </p:spPr>
      </p:pic>
      <p:pic>
        <p:nvPicPr>
          <p:cNvPr id="5" name="Picture 4">
            <a:extLst>
              <a:ext uri="{FF2B5EF4-FFF2-40B4-BE49-F238E27FC236}">
                <a16:creationId xmlns:a16="http://schemas.microsoft.com/office/drawing/2014/main" id="{49E896EA-90B7-4D69-BF53-F5E5AD78C0AE}"/>
              </a:ext>
            </a:extLst>
          </p:cNvPr>
          <p:cNvPicPr>
            <a:picLocks noChangeAspect="1"/>
          </p:cNvPicPr>
          <p:nvPr/>
        </p:nvPicPr>
        <p:blipFill>
          <a:blip r:embed="rId3"/>
          <a:stretch>
            <a:fillRect/>
          </a:stretch>
        </p:blipFill>
        <p:spPr>
          <a:xfrm>
            <a:off x="3394115" y="1134285"/>
            <a:ext cx="5394059" cy="3765375"/>
          </a:xfrm>
          <a:prstGeom prst="rect">
            <a:avLst/>
          </a:prstGeom>
        </p:spPr>
      </p:pic>
    </p:spTree>
    <p:extLst>
      <p:ext uri="{BB962C8B-B14F-4D97-AF65-F5344CB8AC3E}">
        <p14:creationId xmlns:p14="http://schemas.microsoft.com/office/powerpoint/2010/main" val="4196109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E391185-8B7C-4B7C-BEFA-7BD4888CF8B1}"/>
              </a:ext>
            </a:extLst>
          </p:cNvPr>
          <p:cNvSpPr>
            <a:spLocks noGrp="1"/>
          </p:cNvSpPr>
          <p:nvPr>
            <p:ph type="title" idx="9"/>
          </p:nvPr>
        </p:nvSpPr>
        <p:spPr/>
        <p:txBody>
          <a:bodyPr/>
          <a:lstStyle/>
          <a:p>
            <a:r>
              <a:rPr lang="en-US" dirty="0"/>
              <a:t>Design Patterns</a:t>
            </a:r>
            <a:br>
              <a:rPr lang="en-US" dirty="0"/>
            </a:br>
            <a:br>
              <a:rPr lang="en-US" dirty="0"/>
            </a:br>
            <a:r>
              <a:rPr lang="en-US" sz="2400" dirty="0"/>
              <a:t>Strategy Design Pattern</a:t>
            </a:r>
            <a:br>
              <a:rPr lang="en-US" sz="2400" dirty="0"/>
            </a:br>
            <a:r>
              <a:rPr lang="en-US" sz="2400" dirty="0"/>
              <a:t>Factory Design Pattern </a:t>
            </a:r>
            <a:br>
              <a:rPr lang="en-US" sz="2400" dirty="0"/>
            </a:br>
            <a:r>
              <a:rPr lang="en-US" sz="2400" dirty="0"/>
              <a:t>Switch Design Pattern</a:t>
            </a:r>
            <a:br>
              <a:rPr lang="en-US" sz="2400" dirty="0"/>
            </a:br>
            <a:r>
              <a:rPr lang="en-US" sz="2400" dirty="0"/>
              <a:t>Decorator Design Pattern</a:t>
            </a:r>
            <a:br>
              <a:rPr lang="en-US" sz="2400" dirty="0"/>
            </a:br>
            <a:r>
              <a:rPr lang="en-US" sz="2400" dirty="0"/>
              <a:t>Singleton Design Pattern</a:t>
            </a:r>
            <a:br>
              <a:rPr lang="en-US" dirty="0"/>
            </a:br>
            <a:endParaRPr lang="en-US" dirty="0"/>
          </a:p>
        </p:txBody>
      </p:sp>
    </p:spTree>
    <p:extLst>
      <p:ext uri="{BB962C8B-B14F-4D97-AF65-F5344CB8AC3E}">
        <p14:creationId xmlns:p14="http://schemas.microsoft.com/office/powerpoint/2010/main" val="1015244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E391185-8B7C-4B7C-BEFA-7BD4888CF8B1}"/>
              </a:ext>
            </a:extLst>
          </p:cNvPr>
          <p:cNvSpPr>
            <a:spLocks noGrp="1"/>
          </p:cNvSpPr>
          <p:nvPr>
            <p:ph type="title" idx="9"/>
          </p:nvPr>
        </p:nvSpPr>
        <p:spPr>
          <a:xfrm>
            <a:off x="331380" y="526675"/>
            <a:ext cx="4103460" cy="524885"/>
          </a:xfrm>
        </p:spPr>
        <p:txBody>
          <a:bodyPr/>
          <a:lstStyle/>
          <a:p>
            <a:r>
              <a:rPr lang="en-US" sz="2400" dirty="0">
                <a:solidFill>
                  <a:schemeClr val="tx1"/>
                </a:solidFill>
              </a:rPr>
              <a:t>Strategy Design Pattern</a:t>
            </a:r>
            <a:br>
              <a:rPr lang="en-US" sz="2400" dirty="0">
                <a:solidFill>
                  <a:schemeClr val="tx1"/>
                </a:solidFill>
              </a:rPr>
            </a:br>
            <a:endParaRPr lang="en-US" sz="2400" dirty="0"/>
          </a:p>
        </p:txBody>
      </p:sp>
      <p:sp>
        <p:nvSpPr>
          <p:cNvPr id="3" name="TextBox 2">
            <a:extLst>
              <a:ext uri="{FF2B5EF4-FFF2-40B4-BE49-F238E27FC236}">
                <a16:creationId xmlns:a16="http://schemas.microsoft.com/office/drawing/2014/main" id="{690E18E9-1353-4953-94AE-0A6883770390}"/>
              </a:ext>
            </a:extLst>
          </p:cNvPr>
          <p:cNvSpPr txBox="1"/>
          <p:nvPr/>
        </p:nvSpPr>
        <p:spPr>
          <a:xfrm>
            <a:off x="236220" y="1417588"/>
            <a:ext cx="8237220" cy="2308324"/>
          </a:xfrm>
          <a:prstGeom prst="rect">
            <a:avLst/>
          </a:prstGeom>
          <a:noFill/>
        </p:spPr>
        <p:txBody>
          <a:bodyPr wrap="square">
            <a:spAutoFit/>
          </a:bodyPr>
          <a:lstStyle/>
          <a:p>
            <a:pPr marL="285750" indent="-285750">
              <a:buFontTx/>
              <a:buChar char="-"/>
            </a:pPr>
            <a:r>
              <a:rPr lang="en-US" sz="2400" b="0" i="0" dirty="0">
                <a:solidFill>
                  <a:schemeClr val="tx1"/>
                </a:solidFill>
                <a:effectLst/>
                <a:latin typeface="Söhne"/>
              </a:rPr>
              <a:t>This pattern defines a family of algorithms, encapsulates each one, and makes them interchangeable. In this specific example, you have created payment strategies (CreditCardPaymentStrategy and </a:t>
            </a:r>
            <a:r>
              <a:rPr lang="en-US" sz="2400" b="0" i="0" dirty="0" err="1">
                <a:solidFill>
                  <a:schemeClr val="tx1"/>
                </a:solidFill>
                <a:effectLst/>
                <a:latin typeface="Söhne"/>
              </a:rPr>
              <a:t>PayPalPaymentStrategy</a:t>
            </a:r>
            <a:r>
              <a:rPr lang="en-US" sz="2400" b="0" i="0" dirty="0">
                <a:solidFill>
                  <a:schemeClr val="tx1"/>
                </a:solidFill>
                <a:effectLst/>
                <a:latin typeface="Söhne"/>
              </a:rPr>
              <a:t>) that can be set for an order, allowing for different payment methods to be used interchangeably.</a:t>
            </a:r>
            <a:endParaRPr lang="en-US" sz="2400" dirty="0">
              <a:solidFill>
                <a:schemeClr val="tx1"/>
              </a:solidFill>
            </a:endParaRPr>
          </a:p>
        </p:txBody>
      </p:sp>
    </p:spTree>
    <p:extLst>
      <p:ext uri="{BB962C8B-B14F-4D97-AF65-F5344CB8AC3E}">
        <p14:creationId xmlns:p14="http://schemas.microsoft.com/office/powerpoint/2010/main" val="1783790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E391185-8B7C-4B7C-BEFA-7BD4888CF8B1}"/>
              </a:ext>
            </a:extLst>
          </p:cNvPr>
          <p:cNvSpPr>
            <a:spLocks noGrp="1"/>
          </p:cNvSpPr>
          <p:nvPr>
            <p:ph type="title" idx="9"/>
          </p:nvPr>
        </p:nvSpPr>
        <p:spPr>
          <a:xfrm>
            <a:off x="220980" y="542581"/>
            <a:ext cx="3680460" cy="639185"/>
          </a:xfrm>
        </p:spPr>
        <p:txBody>
          <a:bodyPr/>
          <a:lstStyle/>
          <a:p>
            <a:pPr marL="283464" marR="0" indent="-283464" algn="l" rtl="0">
              <a:spcBef>
                <a:spcPts val="0"/>
              </a:spcBef>
              <a:spcAft>
                <a:spcPts val="0"/>
              </a:spcAft>
              <a:buClr>
                <a:srgbClr val="000000"/>
              </a:buClr>
              <a:buSzPts val="2400"/>
              <a:buFont typeface="Wingdings" panose="05000000000000000000" pitchFamily="2" charset="2"/>
              <a:buChar char="q"/>
            </a:pPr>
            <a:r>
              <a:rPr lang="en-US" sz="2400" b="0" i="0" dirty="0">
                <a:solidFill>
                  <a:srgbClr val="FFFFFF"/>
                </a:solidFill>
                <a:effectLst/>
                <a:latin typeface="Arial" panose="020B0604020202020204" pitchFamily="34" charset="0"/>
                <a:ea typeface="Arial" panose="020B0604020202020204" pitchFamily="34" charset="0"/>
                <a:cs typeface="Arial" panose="020B0604020202020204" pitchFamily="34" charset="0"/>
              </a:rPr>
              <a:t>Factory Design Pattern</a:t>
            </a:r>
            <a:endParaRPr lang="en-US" sz="2400" dirty="0">
              <a:effectLst/>
            </a:endParaRPr>
          </a:p>
        </p:txBody>
      </p:sp>
      <p:sp>
        <p:nvSpPr>
          <p:cNvPr id="3" name="TextBox 2">
            <a:extLst>
              <a:ext uri="{FF2B5EF4-FFF2-40B4-BE49-F238E27FC236}">
                <a16:creationId xmlns:a16="http://schemas.microsoft.com/office/drawing/2014/main" id="{A41E4EA6-1F24-4D3A-8106-7FFCDFE7142D}"/>
              </a:ext>
            </a:extLst>
          </p:cNvPr>
          <p:cNvSpPr txBox="1"/>
          <p:nvPr/>
        </p:nvSpPr>
        <p:spPr>
          <a:xfrm>
            <a:off x="220980" y="1417588"/>
            <a:ext cx="7650480" cy="2308324"/>
          </a:xfrm>
          <a:prstGeom prst="rect">
            <a:avLst/>
          </a:prstGeom>
          <a:noFill/>
        </p:spPr>
        <p:txBody>
          <a:bodyPr wrap="square">
            <a:spAutoFit/>
          </a:bodyPr>
          <a:lstStyle/>
          <a:p>
            <a:pPr marL="285750" indent="-285750">
              <a:buFontTx/>
              <a:buChar char="-"/>
            </a:pPr>
            <a:r>
              <a:rPr lang="en-US" sz="2400" b="0" i="0" dirty="0">
                <a:solidFill>
                  <a:schemeClr val="tx1"/>
                </a:solidFill>
                <a:effectLst/>
                <a:latin typeface="Söhne"/>
              </a:rPr>
              <a:t>The Factory Method pattern is a creational design pattern that defines an interface for creating objects but allows subclasses to alter the type of objects that will be created. In this specific example, you've implemented a User Factory to create different types of users, such as Regular User and Admin User.</a:t>
            </a:r>
            <a:endParaRPr lang="en-US" sz="2400" dirty="0">
              <a:solidFill>
                <a:schemeClr val="tx1"/>
              </a:solidFill>
            </a:endParaRPr>
          </a:p>
        </p:txBody>
      </p:sp>
    </p:spTree>
    <p:extLst>
      <p:ext uri="{BB962C8B-B14F-4D97-AF65-F5344CB8AC3E}">
        <p14:creationId xmlns:p14="http://schemas.microsoft.com/office/powerpoint/2010/main" val="2148062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E391185-8B7C-4B7C-BEFA-7BD4888CF8B1}"/>
              </a:ext>
            </a:extLst>
          </p:cNvPr>
          <p:cNvSpPr>
            <a:spLocks noGrp="1"/>
          </p:cNvSpPr>
          <p:nvPr>
            <p:ph type="title" idx="9"/>
          </p:nvPr>
        </p:nvSpPr>
        <p:spPr>
          <a:xfrm>
            <a:off x="396240" y="542581"/>
            <a:ext cx="5273040" cy="905219"/>
          </a:xfrm>
        </p:spPr>
        <p:txBody>
          <a:bodyPr/>
          <a:lstStyle/>
          <a:p>
            <a:pPr marL="283464" marR="0" indent="-283464" algn="l" rtl="0">
              <a:spcBef>
                <a:spcPts val="0"/>
              </a:spcBef>
              <a:spcAft>
                <a:spcPts val="0"/>
              </a:spcAft>
              <a:buClr>
                <a:srgbClr val="000000"/>
              </a:buClr>
              <a:buSzPts val="2400"/>
              <a:buFont typeface="Wingdings" panose="05000000000000000000" pitchFamily="2" charset="2"/>
              <a:buChar char="q"/>
            </a:pPr>
            <a:r>
              <a:rPr lang="en-US" sz="2400" dirty="0">
                <a:effectLst/>
              </a:rPr>
              <a:t>Switch Design Pattern </a:t>
            </a:r>
          </a:p>
        </p:txBody>
      </p:sp>
      <p:sp>
        <p:nvSpPr>
          <p:cNvPr id="5" name="TextBox 4">
            <a:extLst>
              <a:ext uri="{FF2B5EF4-FFF2-40B4-BE49-F238E27FC236}">
                <a16:creationId xmlns:a16="http://schemas.microsoft.com/office/drawing/2014/main" id="{7B012876-387D-462B-BC21-848E4B46AE19}"/>
              </a:ext>
            </a:extLst>
          </p:cNvPr>
          <p:cNvSpPr txBox="1"/>
          <p:nvPr/>
        </p:nvSpPr>
        <p:spPr>
          <a:xfrm>
            <a:off x="678180" y="1288703"/>
            <a:ext cx="7490460" cy="2308324"/>
          </a:xfrm>
          <a:prstGeom prst="rect">
            <a:avLst/>
          </a:prstGeom>
          <a:noFill/>
        </p:spPr>
        <p:txBody>
          <a:bodyPr wrap="square">
            <a:spAutoFit/>
          </a:bodyPr>
          <a:lstStyle/>
          <a:p>
            <a:r>
              <a:rPr lang="en-US" sz="2400" dirty="0">
                <a:solidFill>
                  <a:schemeClr val="tx1"/>
                </a:solidFill>
              </a:rPr>
              <a:t>Switch pattern uses switch cases to select the appropriate behavior for a given situation based on a value, we achieved similar behavior using conditional statements, like if, elif, and else in our code since Python doesn't have a built-in "switch" statement like some other languages.</a:t>
            </a:r>
          </a:p>
        </p:txBody>
      </p:sp>
    </p:spTree>
    <p:extLst>
      <p:ext uri="{BB962C8B-B14F-4D97-AF65-F5344CB8AC3E}">
        <p14:creationId xmlns:p14="http://schemas.microsoft.com/office/powerpoint/2010/main" val="1524638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E391185-8B7C-4B7C-BEFA-7BD4888CF8B1}"/>
              </a:ext>
            </a:extLst>
          </p:cNvPr>
          <p:cNvSpPr>
            <a:spLocks noGrp="1"/>
          </p:cNvSpPr>
          <p:nvPr>
            <p:ph type="title" idx="9"/>
          </p:nvPr>
        </p:nvSpPr>
        <p:spPr>
          <a:xfrm>
            <a:off x="396240" y="542581"/>
            <a:ext cx="5273040" cy="905219"/>
          </a:xfrm>
        </p:spPr>
        <p:txBody>
          <a:bodyPr/>
          <a:lstStyle/>
          <a:p>
            <a:pPr marL="283464" marR="0" indent="-283464" algn="l" rtl="0">
              <a:spcBef>
                <a:spcPts val="0"/>
              </a:spcBef>
              <a:spcAft>
                <a:spcPts val="0"/>
              </a:spcAft>
              <a:buClr>
                <a:srgbClr val="000000"/>
              </a:buClr>
              <a:buSzPts val="2400"/>
              <a:buFont typeface="Wingdings" panose="05000000000000000000" pitchFamily="2" charset="2"/>
              <a:buChar char="q"/>
            </a:pPr>
            <a:r>
              <a:rPr lang="en-US" sz="2400" dirty="0"/>
              <a:t>Decorator</a:t>
            </a:r>
            <a:r>
              <a:rPr lang="en-US" sz="2400" dirty="0">
                <a:effectLst/>
              </a:rPr>
              <a:t> Design Pattern </a:t>
            </a:r>
          </a:p>
        </p:txBody>
      </p:sp>
      <p:sp>
        <p:nvSpPr>
          <p:cNvPr id="4" name="TextBox 3">
            <a:extLst>
              <a:ext uri="{FF2B5EF4-FFF2-40B4-BE49-F238E27FC236}">
                <a16:creationId xmlns:a16="http://schemas.microsoft.com/office/drawing/2014/main" id="{37EFDB05-3903-490A-834F-C3DDA69DD4D9}"/>
              </a:ext>
            </a:extLst>
          </p:cNvPr>
          <p:cNvSpPr txBox="1"/>
          <p:nvPr/>
        </p:nvSpPr>
        <p:spPr>
          <a:xfrm>
            <a:off x="640080" y="1356360"/>
            <a:ext cx="6918960" cy="1938992"/>
          </a:xfrm>
          <a:prstGeom prst="rect">
            <a:avLst/>
          </a:prstGeom>
          <a:noFill/>
        </p:spPr>
        <p:txBody>
          <a:bodyPr wrap="square">
            <a:spAutoFit/>
          </a:bodyPr>
          <a:lstStyle/>
          <a:p>
            <a:r>
              <a:rPr lang="en-US" sz="2400" dirty="0">
                <a:solidFill>
                  <a:schemeClr val="tx1"/>
                </a:solidFill>
              </a:rPr>
              <a:t>Decorator pattern takes a function as its argument and returns a different function. In our case we returned a decorated function within the decorator function which also works on adding additional feature to the decorator function.</a:t>
            </a:r>
          </a:p>
        </p:txBody>
      </p:sp>
    </p:spTree>
    <p:extLst>
      <p:ext uri="{BB962C8B-B14F-4D97-AF65-F5344CB8AC3E}">
        <p14:creationId xmlns:p14="http://schemas.microsoft.com/office/powerpoint/2010/main" val="3887192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E391185-8B7C-4B7C-BEFA-7BD4888CF8B1}"/>
              </a:ext>
            </a:extLst>
          </p:cNvPr>
          <p:cNvSpPr>
            <a:spLocks noGrp="1"/>
          </p:cNvSpPr>
          <p:nvPr>
            <p:ph type="title" idx="9"/>
          </p:nvPr>
        </p:nvSpPr>
        <p:spPr>
          <a:xfrm>
            <a:off x="396240" y="542581"/>
            <a:ext cx="5273040" cy="905219"/>
          </a:xfrm>
        </p:spPr>
        <p:txBody>
          <a:bodyPr/>
          <a:lstStyle/>
          <a:p>
            <a:pPr marL="283464" marR="0" indent="-283464" algn="l" rtl="0">
              <a:spcBef>
                <a:spcPts val="0"/>
              </a:spcBef>
              <a:spcAft>
                <a:spcPts val="0"/>
              </a:spcAft>
              <a:buClr>
                <a:srgbClr val="000000"/>
              </a:buClr>
              <a:buSzPts val="2400"/>
              <a:buFont typeface="Wingdings" panose="05000000000000000000" pitchFamily="2" charset="2"/>
              <a:buChar char="q"/>
            </a:pPr>
            <a:r>
              <a:rPr lang="en-US" sz="2400" dirty="0"/>
              <a:t>Singleton</a:t>
            </a:r>
            <a:r>
              <a:rPr lang="en-US" sz="2400" dirty="0">
                <a:effectLst/>
              </a:rPr>
              <a:t> Design Pattern </a:t>
            </a:r>
          </a:p>
        </p:txBody>
      </p:sp>
      <p:sp>
        <p:nvSpPr>
          <p:cNvPr id="4" name="TextBox 3">
            <a:extLst>
              <a:ext uri="{FF2B5EF4-FFF2-40B4-BE49-F238E27FC236}">
                <a16:creationId xmlns:a16="http://schemas.microsoft.com/office/drawing/2014/main" id="{453247A2-4859-4A95-B868-A5F8FA86B868}"/>
              </a:ext>
            </a:extLst>
          </p:cNvPr>
          <p:cNvSpPr txBox="1"/>
          <p:nvPr/>
        </p:nvSpPr>
        <p:spPr>
          <a:xfrm>
            <a:off x="662940" y="1205925"/>
            <a:ext cx="7200900" cy="2308324"/>
          </a:xfrm>
          <a:prstGeom prst="rect">
            <a:avLst/>
          </a:prstGeom>
          <a:noFill/>
        </p:spPr>
        <p:txBody>
          <a:bodyPr wrap="square">
            <a:spAutoFit/>
          </a:bodyPr>
          <a:lstStyle/>
          <a:p>
            <a:r>
              <a:rPr lang="en-US" sz="2400" dirty="0">
                <a:solidFill>
                  <a:schemeClr val="tx1"/>
                </a:solidFill>
              </a:rPr>
              <a:t>singleton pattern is used to creating a class that will ensure that only one instance of that class exists throughout the lifespan of the application to provide a global point of access to a resource. In our case we used it to configure out payment gateway settings.</a:t>
            </a:r>
          </a:p>
        </p:txBody>
      </p:sp>
    </p:spTree>
    <p:extLst>
      <p:ext uri="{BB962C8B-B14F-4D97-AF65-F5344CB8AC3E}">
        <p14:creationId xmlns:p14="http://schemas.microsoft.com/office/powerpoint/2010/main" val="1844572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E391185-8B7C-4B7C-BEFA-7BD4888CF8B1}"/>
              </a:ext>
            </a:extLst>
          </p:cNvPr>
          <p:cNvSpPr>
            <a:spLocks noGrp="1"/>
          </p:cNvSpPr>
          <p:nvPr>
            <p:ph type="title" idx="9"/>
          </p:nvPr>
        </p:nvSpPr>
        <p:spPr>
          <a:xfrm>
            <a:off x="396240" y="542581"/>
            <a:ext cx="5273040" cy="905219"/>
          </a:xfrm>
        </p:spPr>
        <p:txBody>
          <a:bodyPr/>
          <a:lstStyle/>
          <a:p>
            <a:pPr marL="283464" marR="0" indent="-283464" algn="l" rtl="0">
              <a:spcBef>
                <a:spcPts val="0"/>
              </a:spcBef>
              <a:spcAft>
                <a:spcPts val="0"/>
              </a:spcAft>
              <a:buClr>
                <a:srgbClr val="000000"/>
              </a:buClr>
              <a:buSzPts val="2400"/>
              <a:buFont typeface="Wingdings" panose="05000000000000000000" pitchFamily="2" charset="2"/>
              <a:buChar char="q"/>
            </a:pPr>
            <a:r>
              <a:rPr lang="en-US" sz="2400" dirty="0">
                <a:effectLst/>
              </a:rPr>
              <a:t>Conclusion </a:t>
            </a:r>
          </a:p>
        </p:txBody>
      </p:sp>
      <p:sp>
        <p:nvSpPr>
          <p:cNvPr id="4" name="TextBox 3">
            <a:extLst>
              <a:ext uri="{FF2B5EF4-FFF2-40B4-BE49-F238E27FC236}">
                <a16:creationId xmlns:a16="http://schemas.microsoft.com/office/drawing/2014/main" id="{453247A2-4859-4A95-B868-A5F8FA86B868}"/>
              </a:ext>
            </a:extLst>
          </p:cNvPr>
          <p:cNvSpPr txBox="1"/>
          <p:nvPr/>
        </p:nvSpPr>
        <p:spPr>
          <a:xfrm>
            <a:off x="735330" y="1447800"/>
            <a:ext cx="7200900" cy="1631216"/>
          </a:xfrm>
          <a:prstGeom prst="rect">
            <a:avLst/>
          </a:prstGeom>
          <a:noFill/>
        </p:spPr>
        <p:txBody>
          <a:bodyPr wrap="square">
            <a:spAutoFit/>
          </a:bodyPr>
          <a:lstStyle/>
          <a:p>
            <a:r>
              <a:rPr lang="en-US" sz="2000" b="0" i="0" dirty="0">
                <a:solidFill>
                  <a:schemeClr val="tx1"/>
                </a:solidFill>
                <a:effectLst/>
                <a:latin typeface="Söhne"/>
              </a:rPr>
              <a:t>In conclusion, the use of design patterns in this project demonstrates a commitment to best practices in software design. These patterns contribute to a more organized, scalable, and maintainable system, allowing for future growth and improvements.</a:t>
            </a:r>
            <a:endParaRPr lang="en-US" sz="2000" dirty="0">
              <a:solidFill>
                <a:schemeClr val="tx1"/>
              </a:solidFill>
            </a:endParaRPr>
          </a:p>
        </p:txBody>
      </p:sp>
    </p:spTree>
    <p:extLst>
      <p:ext uri="{BB962C8B-B14F-4D97-AF65-F5344CB8AC3E}">
        <p14:creationId xmlns:p14="http://schemas.microsoft.com/office/powerpoint/2010/main" val="4020393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E391185-8B7C-4B7C-BEFA-7BD4888CF8B1}"/>
              </a:ext>
            </a:extLst>
          </p:cNvPr>
          <p:cNvSpPr>
            <a:spLocks noGrp="1"/>
          </p:cNvSpPr>
          <p:nvPr>
            <p:ph type="title" idx="9"/>
          </p:nvPr>
        </p:nvSpPr>
        <p:spPr>
          <a:xfrm>
            <a:off x="3421380" y="2302801"/>
            <a:ext cx="5273040" cy="905219"/>
          </a:xfrm>
        </p:spPr>
        <p:txBody>
          <a:bodyPr/>
          <a:lstStyle/>
          <a:p>
            <a:pPr marR="0" algn="l" rtl="0">
              <a:spcBef>
                <a:spcPts val="0"/>
              </a:spcBef>
              <a:spcAft>
                <a:spcPts val="0"/>
              </a:spcAft>
              <a:buClr>
                <a:srgbClr val="000000"/>
              </a:buClr>
              <a:buSzPts val="2400"/>
            </a:pPr>
            <a:r>
              <a:rPr lang="en-US" sz="3200" dirty="0">
                <a:effectLst/>
              </a:rPr>
              <a:t>Thank You!</a:t>
            </a:r>
          </a:p>
        </p:txBody>
      </p:sp>
    </p:spTree>
    <p:extLst>
      <p:ext uri="{BB962C8B-B14F-4D97-AF65-F5344CB8AC3E}">
        <p14:creationId xmlns:p14="http://schemas.microsoft.com/office/powerpoint/2010/main" val="4170315773"/>
      </p:ext>
    </p:extLst>
  </p:cSld>
  <p:clrMapOvr>
    <a:masterClrMapping/>
  </p:clrMapOvr>
</p:sld>
</file>

<file path=ppt/theme/theme1.xml><?xml version="1.0" encoding="utf-8"?>
<a:theme xmlns:a="http://schemas.openxmlformats.org/drawingml/2006/main" name="Force, Motion, and Energy - Science - 10th Grade by Slidesgo">
  <a:themeElements>
    <a:clrScheme name="Simple Light">
      <a:dk1>
        <a:srgbClr val="FFFFFF"/>
      </a:dk1>
      <a:lt1>
        <a:srgbClr val="0F2A29"/>
      </a:lt1>
      <a:dk2>
        <a:srgbClr val="017171"/>
      </a:dk2>
      <a:lt2>
        <a:srgbClr val="00AEAD"/>
      </a:lt2>
      <a:accent1>
        <a:srgbClr val="11EBEB"/>
      </a:accent1>
      <a:accent2>
        <a:srgbClr val="ABE9E4"/>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536</Words>
  <Application>Microsoft Office PowerPoint</Application>
  <PresentationFormat>On-screen Show (16:9)</PresentationFormat>
  <Paragraphs>47</Paragraphs>
  <Slides>18</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Actor</vt:lpstr>
      <vt:lpstr>Wingdings</vt:lpstr>
      <vt:lpstr>Arial</vt:lpstr>
      <vt:lpstr>DM Sans</vt:lpstr>
      <vt:lpstr>Bebas Neue</vt:lpstr>
      <vt:lpstr>Albert Sans</vt:lpstr>
      <vt:lpstr>YAFdJjTk5UU 0</vt:lpstr>
      <vt:lpstr>PT Sans</vt:lpstr>
      <vt:lpstr>DM Sans ExtraBold</vt:lpstr>
      <vt:lpstr>Söhne</vt:lpstr>
      <vt:lpstr>Force, Motion, and Energy - Science - 10th Grade by Slidesgo</vt:lpstr>
      <vt:lpstr>MedLife</vt:lpstr>
      <vt:lpstr>PowerPoint Presentation</vt:lpstr>
      <vt:lpstr>PowerPoint Presentation</vt:lpstr>
      <vt:lpstr>PowerPoint Presentation</vt:lpstr>
      <vt:lpstr>PowerPoint Presentation</vt:lpstr>
      <vt:lpstr>Homepage</vt:lpstr>
      <vt:lpstr>Shop Page </vt:lpstr>
      <vt:lpstr>Checkout Page</vt:lpstr>
      <vt:lpstr>Diagnosis</vt:lpstr>
      <vt:lpstr>Live Chat</vt:lpstr>
      <vt:lpstr>Design Patterns  Strategy Design Pattern Factory Design Pattern  Switch Design Pattern Decorator Design Pattern Singleton Design Pattern </vt:lpstr>
      <vt:lpstr>Strategy Design Pattern </vt:lpstr>
      <vt:lpstr>Factory Design Pattern</vt:lpstr>
      <vt:lpstr>Switch Design Pattern </vt:lpstr>
      <vt:lpstr>Decorator Design Pattern </vt:lpstr>
      <vt:lpstr>Singleton Design Pattern </vt:lpstr>
      <vt:lpstr>Conclusion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MedLife</dc:title>
  <dc:creator>DELL</dc:creator>
  <cp:lastModifiedBy>Rahimul Haque Afrad</cp:lastModifiedBy>
  <cp:revision>1</cp:revision>
  <dcterms:modified xsi:type="dcterms:W3CDTF">2023-10-28T06:08:10Z</dcterms:modified>
</cp:coreProperties>
</file>